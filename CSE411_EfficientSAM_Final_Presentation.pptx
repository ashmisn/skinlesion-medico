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2b6b37d-ec55-afe4-8f1e-101034db3f52}">
          <p14:sldIdLst>
            <p14:sldId id="256"/>
            <p14:sldId id="257"/>
            <p14:sldId id="258"/>
            <p14:sldId id="259"/>
          </p14:sldIdLst>
        </p14:section>
        <p14:section name="Method" id="{625521e6-706e-8d4e-9975-9d8c7b08d794}">
          <p14:sldIdLst>
            <p14:sldId id="260"/>
            <p14:sldId id="261"/>
            <p14:sldId id="262"/>
            <p14:sldId id="263"/>
            <p14:sldId id="264"/>
            <p14:sldId id="265"/>
          </p14:sldIdLst>
        </p14:section>
        <p14:section name="Results" id="{76d1a937-d220-16e7-036c-31ad531ac314}">
          <p14:sldIdLst>
            <p14:sldId id="266"/>
            <p14:sldId id="267"/>
            <p14:sldId id="268"/>
            <p14:sldId id="269"/>
            <p14:sldId id="270"/>
          </p14:sldIdLst>
        </p14:section>
        <p14:section name="Wrap-up" id="{ab69dc28-7759-e525-3430-ffa018b8498d}">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Parameters (millions)</a:t>
            </a:r>
          </a:p>
        </c:rich>
      </c:tx>
      <c:layout/>
      <c:overlay val="0"/>
    </c:title>
    <c:autoTitleDeleted val="0"/>
    <c:plotArea>
      <c:layout/>
      <c:barChart>
        <c:barDir val="col"/>
        <c:grouping val="clustered"/>
        <c:varyColors val="0"/>
        <c:ser>
          <c:idx val="0"/>
          <c:order val="0"/>
          <c:tx>
            <c:strRef>
              <c:f>Sheet1!$B$1</c:f>
              <c:strCache>
                <c:ptCount val="1"/>
                <c:pt idx="0">
                  <c:v>Parameters (millions)</c:v>
                </c:pt>
              </c:strCache>
            </c:strRef>
          </c:tx>
          <c:spPr>
            <a:solidFill>
              <a:srgbClr val="D1481F"/>
            </a:solidFill>
            <a:effectLst/>
          </c:spPr>
          <c:invertIfNegative val="0"/>
          <c:dLbls>
            <c:numFmt formatCode="0.0"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D1481F"/>
              </a:solidFill>
              <a:effectLst/>
            </c:spPr>
          </c:dPt>
          <c:dPt>
            <c:idx val="1"/>
            <c:invertIfNegative val="0"/>
            <c:bubble3D val="0"/>
            <c:spPr>
              <a:solidFill>
                <a:srgbClr val="0E7C86"/>
              </a:solidFill>
              <a:effectLst/>
            </c:spPr>
          </c:dPt>
          <c:cat>
            <c:multiLvlStrRef>
              <c:f>Sheet1!$A$2:$A$3</c:f>
              <c:multiLvlStrCache>
                <c:ptCount val="2"/>
                <c:lvl>
                  <c:pt idx="0">
                    <c:v>SAM ViT-H</c:v>
                  </c:pt>
                  <c:pt idx="1">
                    <c:v>EfficientSAM-Ti</c:v>
                  </c:pt>
                </c:lvl>
              </c:multiLvlStrCache>
            </c:multiLvlStrRef>
          </c:cat>
          <c:val>
            <c:numRef>
              <c:f>Sheet1!$B$2:$B$3</c:f>
              <c:numCache>
                <c:formatCode>General</c:formatCode>
                <c:ptCount val="2"/>
                <c:pt idx="0">
                  <c:v>632</c:v>
                </c:pt>
                <c:pt idx="1">
                  <c:v>10.2</c:v>
                </c:pt>
              </c:numCache>
            </c:numRef>
          </c:val>
        </c:ser>
        <c:dLbls>
          <c:numFmt formatCode="0.0"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DD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5"/>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one lightweight SAM variant, three medical modalities. The three images on the right are real fine-tuned predictions for skin lesion, chest X-ray and brain MRI from our evaluation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is accurate on natural images but its ViT-H encoder has about 632M parameters, and zero-shot it only reaches about 58.5% mean Dice on medical images (Ma and Wang, 2024). EfficientSAM compresses the encoder through SAMI pretraining. The gap: nobody in our 10-paper survey tested it across skin, X-ray and MRI.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surveyed ten papers. Skin and X-ray SAM methods keep the full SAM encoder and report accuracy only. Lightweight variants were only tested on natural images or CT. General medical SAMs are not efficiency-oriented and never compare skin, X-ray and MRI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Part A skin lesion depth, Part B generalization, efficiency reporting and a usable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images are pre-processed, passed through the frozen EfficientSAM-Ti encoder, combined with a box prompt, and decoded by the lightweight mask decoder. The pipeline then splits into Part A (skin) and Part B (X-ray and MRI), both evaluated with the same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Skin: ISIC 2018 Task 1, 2,594 pairs. Chest X-ray: Montgomery plus Shenzhen, 704 pairs. MRI: BraTS 2020 2D FLAIR slices, 105 tumour-positive slices, deliberately small for Colab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images are resized to 256 by 256 and normalised; splits use a fixed seed so zero-shot and fine-tuned runs are comparable. The box prompt is derived from the ground-truth mask with up to 5 pixels of jitter to simulate a user-drawn box. For MRI we took the first 40 of 369 BraTS patients and the three central FLAIR slices of each, keeping tumour-positive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encoder with about 6.16M parameters stays frozen. Only the 4,058,340-parameter mask decoder is trained, with AdamW at 1e-4 and Dice loss. The same budget is used for all three modalities and each modality starts from a fresh pretrained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curves from the notebook logs: skin 0.0752 to 0.0617 over five epochs, X-ray 0.0502 to 0.0407, MRI 0.2338 to 0.1687 over three. MRI loss stays highest, consistent with it being the hardest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followed the Task 4 to Task 7 milestones: 25% datasets, preprocessing and zero-shot baseline; 50% Part A fine-tuning plus zero-shot Part B; 75% Part B fine-tuning, comparison and GUI prototype; 100% final results, polished GUI and packaging.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Skin lesion: zero-shot Dice 0.8655 and IoU 0.7714 rise to 0.9344 and 0.8794 after five decoder-only epochs, a gain of 6.9 Dice points. The qualitative panel shows the fine-tuned boundary following irregular lesion borders more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Chest X-ray is the strongest modality: Dice 0.8741 to 0.9607 and IoU 0.7831 to 0.9253 after three epochs. Zero-shot masks have holes and ragged edges; the fine-tuned masks are clean lung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MRI is hardest: zero-shot Dice 0.6982 rises to 0.8107, IoU 0.5488 to 0.6899, the largest gain but the lowest final score. The qualitative panel includes failure cases where fragmented tumour regions are missed. Only 16 validation slices, so the estimate is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Fine-tuned Dice: chest X-ray 0.9607, skin 0.9344, MRI 0.8107. MRI gains the most but remains lowest, consistent with 2D cross-sectional MRI being furthest from natural-image pretraining. The chart on the left is the actual output of our comparison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ViT-H has about 632M parameters; our EfficientSAM-Ti checkpoint has 10,223,204, about 61.8 times fewer, and only 39.7% of them are trained. Speed on a Tesla T4 is about 127 to 146 ms per image, roughly 6.9 images per second for the skin model; the small spread across modalities is most likely timing variability since the architecture and input size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Gradio app loads the fine-tuned skin-lesion checkpoint. Because no ground-truth mask exists at inference time it prompts with a point at the image centre. It returns the red boundary overlay, a cropped lesion patch, a background-removed lesion, and quantitative lesion metrics. The picture shows an input and the fine-tuned overlay rendered from the evaluation notebook, not a screenshot of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efficiency is preserved because the encoder is untouched; X-ray and skin hold up well; MRI is the hardest domain; and decoder-only adaptation is enough when the box prompt does the localisation. Skin Dice of 0.934 versus SkinSAM 0.888 is indicative only because protocols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256 by 256 inputs, decoder-only tuning, Dice-only loss, box prompts from ground truth, a 16-image MRI validation set split at slice level, a single run, and an indicative rather than like-for-like literature comparison. Future work addresses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Decoder-only fine-tuning of a 10.2M-parameter SAM improved Dice by 6.9, 8.7 and 11.3 points on skin, X-ray and MRI. Deliverables: three fine-tuned checkpoints, results JSON and CSV, comparison plots, Gradio GUI and this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126480" cy="16002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834640"/>
            <a:ext cx="6126480" cy="73152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7D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126480" cy="1600200"/>
          </a:xfrm>
          <a:prstGeom prst="rect">
            <a:avLst/>
          </a:prstGeom>
          <a:noFill/>
          <a:ln/>
        </p:spPr>
        <p:txBody>
          <a:bodyPr wrap="square" lIns="0" tIns="0" rIns="0" bIns="0" rtlCol="0" anchor="t"/>
          <a:lstStyle/>
          <a:p>
            <a:pPr algn="l" indent="0" marL="0">
              <a:buNone/>
            </a:pPr>
            <a:r>
              <a:rPr lang="en-US" sz="3800" b="1" dirty="0">
                <a:solidFill>
                  <a:schemeClr val="bg1"/>
                </a:solidFill>
              </a:rPr>
              <a:t>EfficientSAM for Medical Image Segmentation</a:t>
            </a:r>
            <a:endParaRPr lang="en-US" sz="3800" dirty="0"/>
          </a:p>
        </p:txBody>
      </p:sp>
      <p:sp>
        <p:nvSpPr>
          <p:cNvPr id="3" name="Text 0"/>
          <p:cNvSpPr/>
          <p:nvPr>
            <p:ph idx="101" type="body" hasCustomPrompt="1"/>
          </p:nvPr>
        </p:nvSpPr>
        <p:spPr>
          <a:xfrm>
            <a:off x="548640" y="2834640"/>
            <a:ext cx="6126480" cy="731520"/>
          </a:xfrm>
          <a:prstGeom prst="rect">
            <a:avLst/>
          </a:prstGeom>
          <a:noFill/>
          <a:ln/>
        </p:spPr>
        <p:txBody>
          <a:bodyPr wrap="square" lIns="0" tIns="0" rIns="0" bIns="0" rtlCol="0" anchor="t"/>
          <a:lstStyle/>
          <a:p>
            <a:pPr algn="l" indent="0" marL="0">
              <a:buNone/>
            </a:pPr>
            <a:r>
              <a:rPr lang="en-US" sz="1800" dirty="0">
                <a:solidFill>
                  <a:schemeClr val="accent6"/>
                </a:solidFill>
              </a:rPr>
              <a:t>Skin lesion analysis with a cross-modality generalization study</a:t>
            </a:r>
            <a:endParaRPr lang="en-US" sz="1800" dirty="0"/>
          </a:p>
        </p:txBody>
      </p:sp>
      <p:sp>
        <p:nvSpPr>
          <p:cNvPr id="4" name="Text 2"/>
          <p:cNvSpPr txBox="1"/>
          <p:nvPr/>
        </p:nvSpPr>
        <p:spPr>
          <a:xfrm>
            <a:off x="548640" y="3977640"/>
            <a:ext cx="6217920" cy="731520"/>
          </a:xfrm>
          <a:prstGeom prst="rect">
            <a:avLst/>
          </a:prstGeom>
          <a:noFill/>
          <a:ln/>
        </p:spPr>
        <p:txBody>
          <a:bodyPr wrap="square" lIns="0" tIns="0" rIns="0" bIns="0" rtlCol="0" anchor="t"/>
          <a:lstStyle/>
          <a:p>
            <a:pPr indent="0" marL="0">
              <a:buNone/>
            </a:pPr>
            <a:r>
              <a:rPr lang="en-US" sz="1400" b="1" dirty="0">
                <a:solidFill>
                  <a:schemeClr val="bg1"/>
                </a:solidFill>
              </a:rPr>
              <a:t>CSE411 Computer Vision Project · Team 27</a:t>
            </a:r>
            <a:endParaRPr lang="en-US" sz="1400" dirty="0"/>
          </a:p>
          <a:p>
            <a:pPr indent="0" marL="0">
              <a:buNone/>
            </a:pPr>
            <a:r>
              <a:rPr lang="en-US" sz="1400" dirty="0">
                <a:solidFill>
                  <a:srgbClr val="B7C7D1"/>
                </a:solidFill>
              </a:rPr>
              <a:t>Ashmi S N · Samradhi Rathore · Nimisha M Iyer · Thariq Muhammed</a:t>
            </a:r>
            <a:endParaRPr lang="en-US" sz="1400" dirty="0"/>
          </a:p>
        </p:txBody>
      </p:sp>
      <p:pic>
        <p:nvPicPr>
          <p:cNvPr id="5" name="Image 0" descr="Fine-tuned Skin prediction">    </p:cNvPr>
          <p:cNvPicPr>
            <a:picLocks noChangeAspect="1"/>
          </p:cNvPicPr>
          <p:nvPr/>
        </p:nvPicPr>
        <p:blipFill>
          <a:blip r:embed="rId1"/>
          <a:stretch>
            <a:fillRect/>
          </a:stretch>
        </p:blipFill>
        <p:spPr>
          <a:xfrm>
            <a:off x="7086600" y="365760"/>
            <a:ext cx="1371600" cy="1371600"/>
          </a:xfrm>
          <a:prstGeom prst="rect">
            <a:avLst/>
          </a:prstGeom>
        </p:spPr>
      </p:pic>
      <p:pic>
        <p:nvPicPr>
          <p:cNvPr id="6" name="Image 1" descr="Fine-tuned X-ray prediction">    </p:cNvPr>
          <p:cNvPicPr>
            <a:picLocks noChangeAspect="1"/>
          </p:cNvPicPr>
          <p:nvPr/>
        </p:nvPicPr>
        <p:blipFill>
          <a:blip r:embed="rId2"/>
          <a:stretch>
            <a:fillRect/>
          </a:stretch>
        </p:blipFill>
        <p:spPr>
          <a:xfrm>
            <a:off x="7086600" y="1828800"/>
            <a:ext cx="1371600" cy="1371600"/>
          </a:xfrm>
          <a:prstGeom prst="rect">
            <a:avLst/>
          </a:prstGeom>
        </p:spPr>
      </p:pic>
      <p:pic>
        <p:nvPicPr>
          <p:cNvPr id="7" name="Image 2" descr="Fine-tuned MRI prediction">    </p:cNvPr>
          <p:cNvPicPr>
            <a:picLocks noChangeAspect="1"/>
          </p:cNvPicPr>
          <p:nvPr/>
        </p:nvPicPr>
        <p:blipFill>
          <a:blip r:embed="rId3"/>
          <a:stretch>
            <a:fillRect/>
          </a:stretch>
        </p:blipFill>
        <p:spPr>
          <a:xfrm>
            <a:off x="7086600" y="329184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Why a lightweight SAM?</a:t>
            </a:r>
            <a:endParaRPr lang="en-US" sz="3000" dirty="0"/>
          </a:p>
        </p:txBody>
      </p:sp>
      <p:sp>
        <p:nvSpPr>
          <p:cNvPr id="4" name="stat card 1"/>
          <p:cNvSpPr/>
          <p:nvPr/>
        </p:nvSpPr>
        <p:spPr>
          <a:xfrm>
            <a:off x="457200" y="1280160"/>
            <a:ext cx="2560320" cy="2331720"/>
          </a:xfrm>
          <a:prstGeom prst="roundRect">
            <a:avLst>
              <a:gd name="adj" fmla="val 4706"/>
            </a:avLst>
          </a:prstGeom>
          <a:solidFill>
            <a:schemeClr val="bg2"/>
          </a:solidFill>
          <a:ln w="12700">
            <a:solidFill>
              <a:schemeClr val="bg2"/>
            </a:solidFill>
            <a:prstDash val="solid"/>
          </a:ln>
        </p:spPr>
      </p:sp>
      <p:sp>
        <p:nvSpPr>
          <p:cNvPr id="5" name="Text 2"/>
          <p:cNvSpPr txBox="1"/>
          <p:nvPr/>
        </p:nvSpPr>
        <p:spPr>
          <a:xfrm>
            <a:off x="685800" y="1463040"/>
            <a:ext cx="2103120" cy="822960"/>
          </a:xfrm>
          <a:prstGeom prst="rect">
            <a:avLst/>
          </a:prstGeom>
          <a:noFill/>
          <a:ln/>
        </p:spPr>
        <p:txBody>
          <a:bodyPr wrap="square" lIns="0" tIns="0" rIns="0" bIns="0" rtlCol="0" anchor="t"/>
          <a:lstStyle/>
          <a:p>
            <a:pPr indent="0" marL="0">
              <a:buNone/>
            </a:pPr>
            <a:r>
              <a:rPr lang="en-US" sz="4400" b="1" dirty="0">
                <a:solidFill>
                  <a:schemeClr val="accent1"/>
                </a:solidFill>
              </a:rPr>
              <a:t>632M</a:t>
            </a:r>
            <a:endParaRPr lang="en-US" sz="4400" dirty="0"/>
          </a:p>
        </p:txBody>
      </p:sp>
      <p:sp>
        <p:nvSpPr>
          <p:cNvPr id="6" name="Text 3"/>
          <p:cNvSpPr txBox="1"/>
          <p:nvPr/>
        </p:nvSpPr>
        <p:spPr>
          <a:xfrm>
            <a:off x="685800" y="2377440"/>
            <a:ext cx="2103120" cy="1143000"/>
          </a:xfrm>
          <a:prstGeom prst="rect">
            <a:avLst/>
          </a:prstGeom>
          <a:noFill/>
          <a:ln/>
        </p:spPr>
        <p:txBody>
          <a:bodyPr wrap="square" lIns="0" tIns="0" rIns="0" bIns="0" rtlCol="0" anchor="t"/>
          <a:lstStyle/>
          <a:p>
            <a:pPr indent="0" marL="0">
              <a:buNone/>
            </a:pPr>
            <a:r>
              <a:rPr lang="en-US" sz="1400" dirty="0">
                <a:solidFill>
                  <a:schemeClr val="tx1"/>
                </a:solidFill>
              </a:rPr>
              <a:t>parameters in SAM's ViT-H encoder, too costly for interactive or low-resource use</a:t>
            </a:r>
            <a:endParaRPr lang="en-US" sz="1400" dirty="0"/>
          </a:p>
        </p:txBody>
      </p:sp>
      <p:sp>
        <p:nvSpPr>
          <p:cNvPr id="7" name="stat card 2"/>
          <p:cNvSpPr/>
          <p:nvPr/>
        </p:nvSpPr>
        <p:spPr>
          <a:xfrm>
            <a:off x="3291840" y="1280160"/>
            <a:ext cx="2560320" cy="2331720"/>
          </a:xfrm>
          <a:prstGeom prst="roundRect">
            <a:avLst>
              <a:gd name="adj" fmla="val 4706"/>
            </a:avLst>
          </a:prstGeom>
          <a:solidFill>
            <a:schemeClr val="bg2"/>
          </a:solidFill>
          <a:ln w="12700">
            <a:solidFill>
              <a:schemeClr val="bg2"/>
            </a:solidFill>
            <a:prstDash val="solid"/>
          </a:ln>
        </p:spPr>
      </p:sp>
      <p:sp>
        <p:nvSpPr>
          <p:cNvPr id="8" name="Text 5"/>
          <p:cNvSpPr txBox="1"/>
          <p:nvPr/>
        </p:nvSpPr>
        <p:spPr>
          <a:xfrm>
            <a:off x="3520440" y="1463040"/>
            <a:ext cx="2103120" cy="822960"/>
          </a:xfrm>
          <a:prstGeom prst="rect">
            <a:avLst/>
          </a:prstGeom>
          <a:noFill/>
          <a:ln/>
        </p:spPr>
        <p:txBody>
          <a:bodyPr wrap="square" lIns="0" tIns="0" rIns="0" bIns="0" rtlCol="0" anchor="t"/>
          <a:lstStyle/>
          <a:p>
            <a:pPr indent="0" marL="0">
              <a:buNone/>
            </a:pPr>
            <a:r>
              <a:rPr lang="en-US" sz="4400" b="1" dirty="0">
                <a:solidFill>
                  <a:schemeClr val="accent1"/>
                </a:solidFill>
              </a:rPr>
              <a:t>58.5%</a:t>
            </a:r>
            <a:endParaRPr lang="en-US" sz="4400" dirty="0"/>
          </a:p>
        </p:txBody>
      </p:sp>
      <p:sp>
        <p:nvSpPr>
          <p:cNvPr id="9" name="Text 6"/>
          <p:cNvSpPr txBox="1"/>
          <p:nvPr/>
        </p:nvSpPr>
        <p:spPr>
          <a:xfrm>
            <a:off x="3520440" y="2377440"/>
            <a:ext cx="2103120" cy="1143000"/>
          </a:xfrm>
          <a:prstGeom prst="rect">
            <a:avLst/>
          </a:prstGeom>
          <a:noFill/>
          <a:ln/>
        </p:spPr>
        <p:txBody>
          <a:bodyPr wrap="square" lIns="0" tIns="0" rIns="0" bIns="0" rtlCol="0" anchor="t"/>
          <a:lstStyle/>
          <a:p>
            <a:pPr indent="0" marL="0">
              <a:buNone/>
            </a:pPr>
            <a:r>
              <a:rPr lang="en-US" sz="1400" dirty="0">
                <a:solidFill>
                  <a:schemeClr val="tx1"/>
                </a:solidFill>
              </a:rPr>
              <a:t>mean Dice of zero-shot SAM on medical images (Ma and Wang, 2024)</a:t>
            </a:r>
            <a:endParaRPr lang="en-US" sz="1400" dirty="0"/>
          </a:p>
        </p:txBody>
      </p:sp>
      <p:sp>
        <p:nvSpPr>
          <p:cNvPr id="10" name="stat card 3"/>
          <p:cNvSpPr/>
          <p:nvPr/>
        </p:nvSpPr>
        <p:spPr>
          <a:xfrm>
            <a:off x="6126480" y="1280160"/>
            <a:ext cx="2560320" cy="2331720"/>
          </a:xfrm>
          <a:prstGeom prst="roundRect">
            <a:avLst>
              <a:gd name="adj" fmla="val 4706"/>
            </a:avLst>
          </a:prstGeom>
          <a:solidFill>
            <a:schemeClr val="bg2"/>
          </a:solidFill>
          <a:ln w="12700">
            <a:solidFill>
              <a:schemeClr val="bg2"/>
            </a:solidFill>
            <a:prstDash val="solid"/>
          </a:ln>
        </p:spPr>
      </p:sp>
      <p:sp>
        <p:nvSpPr>
          <p:cNvPr id="11" name="Text 8"/>
          <p:cNvSpPr txBox="1"/>
          <p:nvPr/>
        </p:nvSpPr>
        <p:spPr>
          <a:xfrm>
            <a:off x="6355080" y="1463040"/>
            <a:ext cx="2103120" cy="822960"/>
          </a:xfrm>
          <a:prstGeom prst="rect">
            <a:avLst/>
          </a:prstGeom>
          <a:noFill/>
          <a:ln/>
        </p:spPr>
        <p:txBody>
          <a:bodyPr wrap="square" lIns="0" tIns="0" rIns="0" bIns="0" rtlCol="0" anchor="t"/>
          <a:lstStyle/>
          <a:p>
            <a:pPr indent="0" marL="0">
              <a:buNone/>
            </a:pPr>
            <a:r>
              <a:rPr lang="en-US" sz="4400" b="1" dirty="0">
                <a:solidFill>
                  <a:schemeClr val="accent2"/>
                </a:solidFill>
              </a:rPr>
              <a:t>0</a:t>
            </a:r>
            <a:endParaRPr lang="en-US" sz="4400" dirty="0"/>
          </a:p>
        </p:txBody>
      </p:sp>
      <p:sp>
        <p:nvSpPr>
          <p:cNvPr id="12" name="Text 9"/>
          <p:cNvSpPr txBox="1"/>
          <p:nvPr/>
        </p:nvSpPr>
        <p:spPr>
          <a:xfrm>
            <a:off x="6355080" y="2377440"/>
            <a:ext cx="2103120" cy="1143000"/>
          </a:xfrm>
          <a:prstGeom prst="rect">
            <a:avLst/>
          </a:prstGeom>
          <a:noFill/>
          <a:ln/>
        </p:spPr>
        <p:txBody>
          <a:bodyPr wrap="square" lIns="0" tIns="0" rIns="0" bIns="0" rtlCol="0" anchor="t"/>
          <a:lstStyle/>
          <a:p>
            <a:pPr indent="0" marL="0">
              <a:buNone/>
            </a:pPr>
            <a:r>
              <a:rPr lang="en-US" sz="1400" dirty="0">
                <a:solidFill>
                  <a:schemeClr val="tx1"/>
                </a:solidFill>
              </a:rPr>
              <a:t>surveyed studies testing one lightweight SAM across skin, X-ray and MRI</a:t>
            </a:r>
            <a:endParaRPr lang="en-US" sz="1400" dirty="0"/>
          </a:p>
        </p:txBody>
      </p:sp>
      <p:sp>
        <p:nvSpPr>
          <p:cNvPr id="13" name="banner"/>
          <p:cNvSpPr/>
          <p:nvPr/>
        </p:nvSpPr>
        <p:spPr>
          <a:xfrm>
            <a:off x="457200" y="3840480"/>
            <a:ext cx="8229600" cy="777240"/>
          </a:xfrm>
          <a:prstGeom prst="roundRect">
            <a:avLst>
              <a:gd name="adj" fmla="val 14118"/>
            </a:avLst>
          </a:prstGeom>
          <a:solidFill>
            <a:schemeClr val="tx2"/>
          </a:solidFill>
          <a:ln w="12700">
            <a:solidFill>
              <a:schemeClr val="tx2"/>
            </a:solidFill>
            <a:prstDash val="solid"/>
          </a:ln>
        </p:spPr>
      </p:sp>
      <p:sp>
        <p:nvSpPr>
          <p:cNvPr id="14" name="Text 11"/>
          <p:cNvSpPr txBox="1"/>
          <p:nvPr/>
        </p:nvSpPr>
        <p:spPr>
          <a:xfrm>
            <a:off x="685800" y="3931920"/>
            <a:ext cx="7772400" cy="594360"/>
          </a:xfrm>
          <a:prstGeom prst="rect">
            <a:avLst/>
          </a:prstGeom>
          <a:noFill/>
          <a:ln/>
        </p:spPr>
        <p:txBody>
          <a:bodyPr wrap="square" lIns="0" tIns="0" rIns="0" bIns="0" rtlCol="0" anchor="ctr"/>
          <a:lstStyle/>
          <a:p>
            <a:pPr indent="0" marL="0">
              <a:buNone/>
            </a:pPr>
            <a:r>
              <a:rPr lang="en-US" sz="1500" dirty="0">
                <a:solidFill>
                  <a:schemeClr val="bg1"/>
                </a:solidFill>
              </a:rPr>
              <a:t>EfficientSAM-Ti: SAMI-pretrained ViT-Tiny with 10.2M parameters, never evaluated on medical images until this project.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Literature survey: the research gap</a:t>
            </a:r>
            <a:endParaRPr lang="en-US" sz="3000" dirty="0"/>
          </a:p>
        </p:txBody>
      </p:sp>
      <p:sp>
        <p:nvSpPr>
          <p:cNvPr id="4" name="gap card 1"/>
          <p:cNvSpPr/>
          <p:nvPr/>
        </p:nvSpPr>
        <p:spPr>
          <a:xfrm>
            <a:off x="457200" y="1280160"/>
            <a:ext cx="2560320" cy="2423160"/>
          </a:xfrm>
          <a:prstGeom prst="roundRect">
            <a:avLst>
              <a:gd name="adj" fmla="val 4528"/>
            </a:avLst>
          </a:prstGeom>
          <a:solidFill>
            <a:schemeClr val="bg2"/>
          </a:solidFill>
          <a:ln w="12700">
            <a:solidFill>
              <a:schemeClr val="bg2"/>
            </a:solidFill>
            <a:prstDash val="solid"/>
          </a:ln>
        </p:spPr>
      </p:sp>
      <p:sp>
        <p:nvSpPr>
          <p:cNvPr id="5" name="badge 1"/>
          <p:cNvSpPr/>
          <p:nvPr/>
        </p:nvSpPr>
        <p:spPr>
          <a:xfrm>
            <a:off x="685800" y="1463040"/>
            <a:ext cx="411480" cy="411480"/>
          </a:xfrm>
          <a:prstGeom prst="ellipse">
            <a:avLst/>
          </a:prstGeom>
          <a:solidFill>
            <a:schemeClr val="accent1"/>
          </a:solidFill>
          <a:ln w="12700">
            <a:solidFill>
              <a:schemeClr val="accent1"/>
            </a:solidFill>
            <a:prstDash val="solid"/>
          </a:ln>
        </p:spPr>
      </p:sp>
      <p:sp>
        <p:nvSpPr>
          <p:cNvPr id="6" name="Text 3"/>
          <p:cNvSpPr txBox="1"/>
          <p:nvPr/>
        </p:nvSpPr>
        <p:spPr>
          <a:xfrm>
            <a:off x="68580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685800" y="2011680"/>
            <a:ext cx="2103120" cy="320040"/>
          </a:xfrm>
          <a:prstGeom prst="rect">
            <a:avLst/>
          </a:prstGeom>
          <a:noFill/>
          <a:ln/>
        </p:spPr>
        <p:txBody>
          <a:bodyPr wrap="square" lIns="0" tIns="0" rIns="0" bIns="0" rtlCol="0" anchor="t"/>
          <a:lstStyle/>
          <a:p>
            <a:pPr indent="0" marL="0">
              <a:buNone/>
            </a:pPr>
            <a:r>
              <a:rPr lang="en-US" sz="1600" b="1" dirty="0">
                <a:solidFill>
                  <a:schemeClr val="tx2"/>
                </a:solidFill>
              </a:rPr>
              <a:t>Heavy backbones</a:t>
            </a:r>
            <a:endParaRPr lang="en-US" sz="1600" dirty="0"/>
          </a:p>
        </p:txBody>
      </p:sp>
      <p:sp>
        <p:nvSpPr>
          <p:cNvPr id="8" name="Text 5"/>
          <p:cNvSpPr txBox="1"/>
          <p:nvPr/>
        </p:nvSpPr>
        <p:spPr>
          <a:xfrm>
            <a:off x="685800" y="2377440"/>
            <a:ext cx="2148840" cy="1280160"/>
          </a:xfrm>
          <a:prstGeom prst="rect">
            <a:avLst/>
          </a:prstGeom>
          <a:noFill/>
          <a:ln/>
        </p:spPr>
        <p:txBody>
          <a:bodyPr wrap="square" lIns="0" tIns="0" rIns="0" bIns="0" rtlCol="0" anchor="t"/>
          <a:lstStyle/>
          <a:p>
            <a:pPr indent="0" marL="0">
              <a:buNone/>
            </a:pPr>
            <a:r>
              <a:rPr lang="en-US" sz="1400" dirty="0">
                <a:solidFill>
                  <a:schemeClr val="tx1"/>
                </a:solidFill>
              </a:rPr>
              <a:t>SkinSAM, YOLOSAMIC, SAM-Adapter and the X-ray LoRA model keep full SAM and report no parameters or speed.</a:t>
            </a:r>
            <a:endParaRPr lang="en-US" sz="1400" dirty="0"/>
          </a:p>
        </p:txBody>
      </p:sp>
      <p:sp>
        <p:nvSpPr>
          <p:cNvPr id="9" name="gap card 2"/>
          <p:cNvSpPr/>
          <p:nvPr/>
        </p:nvSpPr>
        <p:spPr>
          <a:xfrm>
            <a:off x="3291840" y="1280160"/>
            <a:ext cx="2560320" cy="2423160"/>
          </a:xfrm>
          <a:prstGeom prst="roundRect">
            <a:avLst>
              <a:gd name="adj" fmla="val 4528"/>
            </a:avLst>
          </a:prstGeom>
          <a:solidFill>
            <a:schemeClr val="bg2"/>
          </a:solidFill>
          <a:ln w="12700">
            <a:solidFill>
              <a:schemeClr val="bg2"/>
            </a:solidFill>
            <a:prstDash val="solid"/>
          </a:ln>
        </p:spPr>
      </p:sp>
      <p:sp>
        <p:nvSpPr>
          <p:cNvPr id="10" name="badge 2"/>
          <p:cNvSpPr/>
          <p:nvPr/>
        </p:nvSpPr>
        <p:spPr>
          <a:xfrm>
            <a:off x="3520440" y="146304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352044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3520440" y="2011680"/>
            <a:ext cx="2103120" cy="320040"/>
          </a:xfrm>
          <a:prstGeom prst="rect">
            <a:avLst/>
          </a:prstGeom>
          <a:noFill/>
          <a:ln/>
        </p:spPr>
        <p:txBody>
          <a:bodyPr wrap="square" lIns="0" tIns="0" rIns="0" bIns="0" rtlCol="0" anchor="t"/>
          <a:lstStyle/>
          <a:p>
            <a:pPr indent="0" marL="0">
              <a:buNone/>
            </a:pPr>
            <a:r>
              <a:rPr lang="en-US" sz="1600" b="1" dirty="0">
                <a:solidFill>
                  <a:schemeClr val="tx2"/>
                </a:solidFill>
              </a:rPr>
              <a:t>Light, but narrow</a:t>
            </a:r>
            <a:endParaRPr lang="en-US" sz="1600" dirty="0"/>
          </a:p>
        </p:txBody>
      </p:sp>
      <p:sp>
        <p:nvSpPr>
          <p:cNvPr id="13" name="Text 10"/>
          <p:cNvSpPr txBox="1"/>
          <p:nvPr/>
        </p:nvSpPr>
        <p:spPr>
          <a:xfrm>
            <a:off x="3520440" y="2377440"/>
            <a:ext cx="2148840" cy="1280160"/>
          </a:xfrm>
          <a:prstGeom prst="rect">
            <a:avLst/>
          </a:prstGeom>
          <a:noFill/>
          <a:ln/>
        </p:spPr>
        <p:txBody>
          <a:bodyPr wrap="square" lIns="0" tIns="0" rIns="0" bIns="0" rtlCol="0" anchor="t"/>
          <a:lstStyle/>
          <a:p>
            <a:pPr indent="0" marL="0">
              <a:buNone/>
            </a:pPr>
            <a:r>
              <a:rPr lang="en-US" sz="1400" dirty="0">
                <a:solidFill>
                  <a:schemeClr val="tx1"/>
                </a:solidFill>
              </a:rPr>
              <a:t>EfficientSAM was tested only on natural images; RepMedSAM and EMedSAM only on CT. None covers skin or X-ray.</a:t>
            </a:r>
            <a:endParaRPr lang="en-US" sz="1400" dirty="0"/>
          </a:p>
        </p:txBody>
      </p:sp>
      <p:sp>
        <p:nvSpPr>
          <p:cNvPr id="14" name="gap card 3"/>
          <p:cNvSpPr/>
          <p:nvPr/>
        </p:nvSpPr>
        <p:spPr>
          <a:xfrm>
            <a:off x="6126480" y="1280160"/>
            <a:ext cx="2560320" cy="2423160"/>
          </a:xfrm>
          <a:prstGeom prst="roundRect">
            <a:avLst>
              <a:gd name="adj" fmla="val 4528"/>
            </a:avLst>
          </a:prstGeom>
          <a:solidFill>
            <a:schemeClr val="bg2"/>
          </a:solidFill>
          <a:ln w="12700">
            <a:solidFill>
              <a:schemeClr val="bg2"/>
            </a:solidFill>
            <a:prstDash val="solid"/>
          </a:ln>
        </p:spPr>
      </p:sp>
      <p:sp>
        <p:nvSpPr>
          <p:cNvPr id="15" name="badge 3"/>
          <p:cNvSpPr/>
          <p:nvPr/>
        </p:nvSpPr>
        <p:spPr>
          <a:xfrm>
            <a:off x="6355080" y="1463040"/>
            <a:ext cx="411480" cy="411480"/>
          </a:xfrm>
          <a:prstGeom prst="ellipse">
            <a:avLst/>
          </a:prstGeom>
          <a:solidFill>
            <a:schemeClr val="accent1"/>
          </a:solidFill>
          <a:ln w="12700">
            <a:solidFill>
              <a:schemeClr val="accent1"/>
            </a:solidFill>
            <a:prstDash val="solid"/>
          </a:ln>
        </p:spPr>
      </p:sp>
      <p:sp>
        <p:nvSpPr>
          <p:cNvPr id="16" name="Text 13"/>
          <p:cNvSpPr txBox="1"/>
          <p:nvPr/>
        </p:nvSpPr>
        <p:spPr>
          <a:xfrm>
            <a:off x="635508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6355080" y="2011680"/>
            <a:ext cx="2103120" cy="320040"/>
          </a:xfrm>
          <a:prstGeom prst="rect">
            <a:avLst/>
          </a:prstGeom>
          <a:noFill/>
          <a:ln/>
        </p:spPr>
        <p:txBody>
          <a:bodyPr wrap="square" lIns="0" tIns="0" rIns="0" bIns="0" rtlCol="0" anchor="t"/>
          <a:lstStyle/>
          <a:p>
            <a:pPr indent="0" marL="0">
              <a:buNone/>
            </a:pPr>
            <a:r>
              <a:rPr lang="en-US" sz="1600" b="1" dirty="0">
                <a:solidFill>
                  <a:schemeClr val="tx2"/>
                </a:solidFill>
              </a:rPr>
              <a:t>Generalists, not efficient</a:t>
            </a:r>
            <a:endParaRPr lang="en-US" sz="1600" dirty="0"/>
          </a:p>
        </p:txBody>
      </p:sp>
      <p:sp>
        <p:nvSpPr>
          <p:cNvPr id="18" name="Text 15"/>
          <p:cNvSpPr txBox="1"/>
          <p:nvPr/>
        </p:nvSpPr>
        <p:spPr>
          <a:xfrm>
            <a:off x="6355080" y="2377440"/>
            <a:ext cx="2148840" cy="1280160"/>
          </a:xfrm>
          <a:prstGeom prst="rect">
            <a:avLst/>
          </a:prstGeom>
          <a:noFill/>
          <a:ln/>
        </p:spPr>
        <p:txBody>
          <a:bodyPr wrap="square" lIns="0" tIns="0" rIns="0" bIns="0" rtlCol="0" anchor="t"/>
          <a:lstStyle/>
          <a:p>
            <a:pPr indent="0" marL="0">
              <a:buNone/>
            </a:pPr>
            <a:r>
              <a:rPr lang="en-US" sz="1400" dirty="0">
                <a:solidFill>
                  <a:schemeClr val="tx1"/>
                </a:solidFill>
              </a:rPr>
              <a:t>MedSAM and Med-SA span many modalities but are heavy, and no paper compares skin, X-ray and MRI in one study.</a:t>
            </a:r>
            <a:endParaRPr lang="en-US" sz="1400" dirty="0"/>
          </a:p>
        </p:txBody>
      </p:sp>
      <p:sp>
        <p:nvSpPr>
          <p:cNvPr id="19" name="gap banner"/>
          <p:cNvSpPr/>
          <p:nvPr/>
        </p:nvSpPr>
        <p:spPr>
          <a:xfrm>
            <a:off x="457200" y="3886200"/>
            <a:ext cx="8229600" cy="731520"/>
          </a:xfrm>
          <a:prstGeom prst="roundRect">
            <a:avLst>
              <a:gd name="adj" fmla="val 15000"/>
            </a:avLst>
          </a:prstGeom>
          <a:solidFill>
            <a:schemeClr val="accent1"/>
          </a:solidFill>
          <a:ln w="12700">
            <a:solidFill>
              <a:schemeClr val="accent1"/>
            </a:solidFill>
            <a:prstDash val="solid"/>
          </a:ln>
        </p:spPr>
      </p:sp>
      <p:sp>
        <p:nvSpPr>
          <p:cNvPr id="20" name="Text 17"/>
          <p:cNvSpPr txBox="1"/>
          <p:nvPr/>
        </p:nvSpPr>
        <p:spPr>
          <a:xfrm>
            <a:off x="685800" y="3931920"/>
            <a:ext cx="7772400" cy="640080"/>
          </a:xfrm>
          <a:prstGeom prst="rect">
            <a:avLst/>
          </a:prstGeom>
          <a:noFill/>
          <a:ln/>
        </p:spPr>
        <p:txBody>
          <a:bodyPr wrap="square" lIns="0" tIns="0" rIns="0" bIns="0" rtlCol="0" anchor="ctr"/>
          <a:lstStyle/>
          <a:p>
            <a:pPr indent="0" marL="0">
              <a:buNone/>
            </a:pPr>
            <a:r>
              <a:rPr lang="en-US" sz="1500" b="1" dirty="0">
                <a:solidFill>
                  <a:schemeClr val="bg1"/>
                </a:solidFill>
              </a:rPr>
              <a:t>Our gap: one lightweight SAM, three modalities, accuracy plus parameters and speed, with a working GUI.</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Objectives and contributions</a:t>
            </a:r>
            <a:endParaRPr lang="en-US" sz="3000" dirty="0"/>
          </a:p>
        </p:txBody>
      </p:sp>
      <p:sp>
        <p:nvSpPr>
          <p:cNvPr id="4" name="objective 1"/>
          <p:cNvSpPr/>
          <p:nvPr/>
        </p:nvSpPr>
        <p:spPr>
          <a:xfrm>
            <a:off x="457200" y="1280160"/>
            <a:ext cx="8229600" cy="731520"/>
          </a:xfrm>
          <a:prstGeom prst="roundRect">
            <a:avLst>
              <a:gd name="adj" fmla="val 15000"/>
            </a:avLst>
          </a:prstGeom>
          <a:solidFill>
            <a:schemeClr val="bg2"/>
          </a:solidFill>
          <a:ln w="12700">
            <a:solidFill>
              <a:schemeClr val="bg2"/>
            </a:solidFill>
            <a:prstDash val="solid"/>
          </a:ln>
        </p:spPr>
      </p:sp>
      <p:sp>
        <p:nvSpPr>
          <p:cNvPr id="5" name="badge 1"/>
          <p:cNvSpPr/>
          <p:nvPr/>
        </p:nvSpPr>
        <p:spPr>
          <a:xfrm>
            <a:off x="640080" y="1408176"/>
            <a:ext cx="475488" cy="475488"/>
          </a:xfrm>
          <a:prstGeom prst="ellipse">
            <a:avLst/>
          </a:prstGeom>
          <a:solidFill>
            <a:schemeClr val="accent1"/>
          </a:solidFill>
          <a:ln w="12700">
            <a:solidFill>
              <a:schemeClr val="accent1"/>
            </a:solidFill>
            <a:prstDash val="solid"/>
          </a:ln>
        </p:spPr>
      </p:sp>
      <p:sp>
        <p:nvSpPr>
          <p:cNvPr id="6" name="Text 3"/>
          <p:cNvSpPr txBox="1"/>
          <p:nvPr/>
        </p:nvSpPr>
        <p:spPr>
          <a:xfrm>
            <a:off x="640080" y="140817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371600"/>
            <a:ext cx="7132320" cy="594360"/>
          </a:xfrm>
          <a:prstGeom prst="rect">
            <a:avLst/>
          </a:prstGeom>
          <a:noFill/>
          <a:ln/>
        </p:spPr>
        <p:txBody>
          <a:bodyPr wrap="square" lIns="0" tIns="0" rIns="0" bIns="0" rtlCol="0" anchor="ctr"/>
          <a:lstStyle/>
          <a:p>
            <a:pPr indent="0" marL="0">
              <a:buNone/>
            </a:pPr>
            <a:r>
              <a:rPr lang="en-US" sz="1600" b="1" dirty="0">
                <a:solidFill>
                  <a:schemeClr val="tx2"/>
                </a:solidFill>
              </a:rPr>
              <a:t>Part A: skin lesion</a:t>
            </a:r>
            <a:endParaRPr lang="en-US" sz="1400" dirty="0"/>
          </a:p>
          <a:p>
            <a:pPr indent="0" marL="0">
              <a:buNone/>
            </a:pPr>
            <a:r>
              <a:rPr lang="en-US" sz="1400" dirty="0">
                <a:solidFill>
                  <a:schemeClr val="tx1"/>
                </a:solidFill>
              </a:rPr>
              <a:t>Adapt EfficientSAM-Ti to ISIC 2018 and compare zero-shot with decoder fine-tuned results.</a:t>
            </a:r>
            <a:endParaRPr lang="en-US" sz="1400" dirty="0"/>
          </a:p>
        </p:txBody>
      </p:sp>
      <p:sp>
        <p:nvSpPr>
          <p:cNvPr id="8" name="objective 2"/>
          <p:cNvSpPr/>
          <p:nvPr/>
        </p:nvSpPr>
        <p:spPr>
          <a:xfrm>
            <a:off x="457200" y="2130552"/>
            <a:ext cx="8229600" cy="731520"/>
          </a:xfrm>
          <a:prstGeom prst="roundRect">
            <a:avLst>
              <a:gd name="adj" fmla="val 15000"/>
            </a:avLst>
          </a:prstGeom>
          <a:solidFill>
            <a:schemeClr val="bg2"/>
          </a:solidFill>
          <a:ln w="12700">
            <a:solidFill>
              <a:schemeClr val="bg2"/>
            </a:solidFill>
            <a:prstDash val="solid"/>
          </a:ln>
        </p:spPr>
      </p:sp>
      <p:sp>
        <p:nvSpPr>
          <p:cNvPr id="9" name="badge 2"/>
          <p:cNvSpPr/>
          <p:nvPr/>
        </p:nvSpPr>
        <p:spPr>
          <a:xfrm>
            <a:off x="640080" y="2258568"/>
            <a:ext cx="475488" cy="475488"/>
          </a:xfrm>
          <a:prstGeom prst="ellipse">
            <a:avLst/>
          </a:prstGeom>
          <a:solidFill>
            <a:schemeClr val="accent1"/>
          </a:solidFill>
          <a:ln w="12700">
            <a:solidFill>
              <a:schemeClr val="accent1"/>
            </a:solidFill>
            <a:prstDash val="solid"/>
          </a:ln>
        </p:spPr>
      </p:sp>
      <p:sp>
        <p:nvSpPr>
          <p:cNvPr id="10" name="Text 7"/>
          <p:cNvSpPr txBox="1"/>
          <p:nvPr/>
        </p:nvSpPr>
        <p:spPr>
          <a:xfrm>
            <a:off x="640080" y="2258568"/>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2221992"/>
            <a:ext cx="7132320" cy="594360"/>
          </a:xfrm>
          <a:prstGeom prst="rect">
            <a:avLst/>
          </a:prstGeom>
          <a:noFill/>
          <a:ln/>
        </p:spPr>
        <p:txBody>
          <a:bodyPr wrap="square" lIns="0" tIns="0" rIns="0" bIns="0" rtlCol="0" anchor="ctr"/>
          <a:lstStyle/>
          <a:p>
            <a:pPr indent="0" marL="0">
              <a:buNone/>
            </a:pPr>
            <a:r>
              <a:rPr lang="en-US" sz="1600" b="1" dirty="0">
                <a:solidFill>
                  <a:schemeClr val="tx2"/>
                </a:solidFill>
              </a:rPr>
              <a:t>Part B: generalization</a:t>
            </a:r>
            <a:endParaRPr lang="en-US" sz="1400" dirty="0"/>
          </a:p>
          <a:p>
            <a:pPr indent="0" marL="0">
              <a:buNone/>
            </a:pPr>
            <a:r>
              <a:rPr lang="en-US" sz="1400" dirty="0">
                <a:solidFill>
                  <a:schemeClr val="tx1"/>
                </a:solidFill>
              </a:rPr>
              <a:t>Run the identical pipeline on chest X-ray and brain MRI.</a:t>
            </a:r>
            <a:endParaRPr lang="en-US" sz="1400" dirty="0"/>
          </a:p>
        </p:txBody>
      </p:sp>
      <p:sp>
        <p:nvSpPr>
          <p:cNvPr id="12" name="objective 3"/>
          <p:cNvSpPr/>
          <p:nvPr/>
        </p:nvSpPr>
        <p:spPr>
          <a:xfrm>
            <a:off x="457200" y="2980944"/>
            <a:ext cx="8229600" cy="731520"/>
          </a:xfrm>
          <a:prstGeom prst="roundRect">
            <a:avLst>
              <a:gd name="adj" fmla="val 15000"/>
            </a:avLst>
          </a:prstGeom>
          <a:solidFill>
            <a:schemeClr val="bg2"/>
          </a:solidFill>
          <a:ln w="12700">
            <a:solidFill>
              <a:schemeClr val="bg2"/>
            </a:solidFill>
            <a:prstDash val="solid"/>
          </a:ln>
        </p:spPr>
      </p:sp>
      <p:sp>
        <p:nvSpPr>
          <p:cNvPr id="13" name="badge 3"/>
          <p:cNvSpPr/>
          <p:nvPr/>
        </p:nvSpPr>
        <p:spPr>
          <a:xfrm>
            <a:off x="640080" y="3108960"/>
            <a:ext cx="475488" cy="475488"/>
          </a:xfrm>
          <a:prstGeom prst="ellipse">
            <a:avLst/>
          </a:prstGeom>
          <a:solidFill>
            <a:schemeClr val="accent1"/>
          </a:solidFill>
          <a:ln w="12700">
            <a:solidFill>
              <a:schemeClr val="accent1"/>
            </a:solidFill>
            <a:prstDash val="solid"/>
          </a:ln>
        </p:spPr>
      </p:sp>
      <p:sp>
        <p:nvSpPr>
          <p:cNvPr id="14" name="Text 11"/>
          <p:cNvSpPr txBox="1"/>
          <p:nvPr/>
        </p:nvSpPr>
        <p:spPr>
          <a:xfrm>
            <a:off x="640080" y="3108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3072384"/>
            <a:ext cx="7132320" cy="594360"/>
          </a:xfrm>
          <a:prstGeom prst="rect">
            <a:avLst/>
          </a:prstGeom>
          <a:noFill/>
          <a:ln/>
        </p:spPr>
        <p:txBody>
          <a:bodyPr wrap="square" lIns="0" tIns="0" rIns="0" bIns="0" rtlCol="0" anchor="ctr"/>
          <a:lstStyle/>
          <a:p>
            <a:pPr indent="0" marL="0">
              <a:buNone/>
            </a:pPr>
            <a:r>
              <a:rPr lang="en-US" sz="1600" b="1" dirty="0">
                <a:solidFill>
                  <a:schemeClr val="tx2"/>
                </a:solidFill>
              </a:rPr>
              <a:t>Efficiency</a:t>
            </a:r>
            <a:endParaRPr lang="en-US" sz="1400" dirty="0"/>
          </a:p>
          <a:p>
            <a:pPr indent="0" marL="0">
              <a:buNone/>
            </a:pPr>
            <a:r>
              <a:rPr lang="en-US" sz="1400" dirty="0">
                <a:solidFill>
                  <a:schemeClr val="tx1"/>
                </a:solidFill>
              </a:rPr>
              <a:t>Report parameter count and inference speed next to Dice and IoU.</a:t>
            </a:r>
            <a:endParaRPr lang="en-US" sz="1400" dirty="0"/>
          </a:p>
        </p:txBody>
      </p:sp>
      <p:sp>
        <p:nvSpPr>
          <p:cNvPr id="16" name="objective 4"/>
          <p:cNvSpPr/>
          <p:nvPr/>
        </p:nvSpPr>
        <p:spPr>
          <a:xfrm>
            <a:off x="457200" y="3831336"/>
            <a:ext cx="8229600" cy="731520"/>
          </a:xfrm>
          <a:prstGeom prst="roundRect">
            <a:avLst>
              <a:gd name="adj" fmla="val 15000"/>
            </a:avLst>
          </a:prstGeom>
          <a:solidFill>
            <a:schemeClr val="bg2"/>
          </a:solidFill>
          <a:ln w="12700">
            <a:solidFill>
              <a:schemeClr val="bg2"/>
            </a:solidFill>
            <a:prstDash val="solid"/>
          </a:ln>
        </p:spPr>
      </p:sp>
      <p:sp>
        <p:nvSpPr>
          <p:cNvPr id="17" name="badge 4"/>
          <p:cNvSpPr/>
          <p:nvPr/>
        </p:nvSpPr>
        <p:spPr>
          <a:xfrm>
            <a:off x="640080" y="3959352"/>
            <a:ext cx="475488" cy="475488"/>
          </a:xfrm>
          <a:prstGeom prst="ellipse">
            <a:avLst/>
          </a:prstGeom>
          <a:solidFill>
            <a:schemeClr val="accent1"/>
          </a:solidFill>
          <a:ln w="12700">
            <a:solidFill>
              <a:schemeClr val="accent1"/>
            </a:solidFill>
            <a:prstDash val="solid"/>
          </a:ln>
        </p:spPr>
      </p:sp>
      <p:sp>
        <p:nvSpPr>
          <p:cNvPr id="18" name="Text 15"/>
          <p:cNvSpPr txBox="1"/>
          <p:nvPr/>
        </p:nvSpPr>
        <p:spPr>
          <a:xfrm>
            <a:off x="640080" y="3959352"/>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922776"/>
            <a:ext cx="7132320" cy="594360"/>
          </a:xfrm>
          <a:prstGeom prst="rect">
            <a:avLst/>
          </a:prstGeom>
          <a:noFill/>
          <a:ln/>
        </p:spPr>
        <p:txBody>
          <a:bodyPr wrap="square" lIns="0" tIns="0" rIns="0" bIns="0" rtlCol="0" anchor="ctr"/>
          <a:lstStyle/>
          <a:p>
            <a:pPr indent="0" marL="0">
              <a:buNone/>
            </a:pPr>
            <a:r>
              <a:rPr lang="en-US" sz="1600" b="1" dirty="0">
                <a:solidFill>
                  <a:schemeClr val="tx2"/>
                </a:solidFill>
              </a:rPr>
              <a:t>Usability</a:t>
            </a:r>
            <a:endParaRPr lang="en-US" sz="1400" dirty="0"/>
          </a:p>
          <a:p>
            <a:pPr indent="0" marL="0">
              <a:buNone/>
            </a:pPr>
            <a:r>
              <a:rPr lang="en-US" sz="1400" dirty="0">
                <a:solidFill>
                  <a:schemeClr val="tx1"/>
                </a:solidFill>
              </a:rPr>
              <a:t>Deliver a Gradio GUI for dermoscopic image upload and mask overlay.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System architecture</a:t>
            </a:r>
            <a:endParaRPr lang="en-US" sz="3000" dirty="0"/>
          </a:p>
        </p:txBody>
      </p:sp>
      <p:pic>
        <p:nvPicPr>
          <p:cNvPr id="4" name="Image 0" descr="System architecture diagram">    </p:cNvPr>
          <p:cNvPicPr>
            <a:picLocks noChangeAspect="1"/>
          </p:cNvPicPr>
          <p:nvPr/>
        </p:nvPicPr>
        <p:blipFill>
          <a:blip r:embed="rId1"/>
          <a:stretch>
            <a:fillRect/>
          </a:stretch>
        </p:blipFill>
        <p:spPr>
          <a:xfrm>
            <a:off x="822960" y="1097280"/>
            <a:ext cx="7498080" cy="3837436"/>
          </a:xfrm>
          <a:prstGeom prst="rect">
            <a:avLst/>
          </a:prstGeom>
        </p:spPr>
      </p:pic>
      <p:sp>
        <p:nvSpPr>
          <p:cNvPr id="5" name="Text 1"/>
          <p:cNvSpPr txBox="1"/>
          <p:nvPr/>
        </p:nvSpPr>
        <p:spPr>
          <a:xfrm>
            <a:off x="457200" y="4980436"/>
            <a:ext cx="8229600" cy="274320"/>
          </a:xfrm>
          <a:prstGeom prst="rect">
            <a:avLst/>
          </a:prstGeom>
          <a:noFill/>
          <a:ln/>
        </p:spPr>
        <p:txBody>
          <a:bodyPr wrap="square" lIns="0" tIns="0" rIns="0" bIns="0" rtlCol="0" anchor="t"/>
          <a:lstStyle/>
          <a:p>
            <a:pPr algn="ctr" indent="0" marL="0">
              <a:buNone/>
            </a:pPr>
            <a:r>
              <a:rPr lang="en-US" sz="1100" i="1" dirty="0">
                <a:solidFill>
                  <a:schemeClr val="accent5"/>
                </a:solidFill>
              </a:rPr>
              <a:t>Same encoder, prompt scheme and evaluation code for all three modalities.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Three modalities, one pipeline</a:t>
            </a:r>
            <a:endParaRPr lang="en-US" sz="3000" dirty="0"/>
          </a:p>
        </p:txBody>
      </p:sp>
      <p:sp>
        <p:nvSpPr>
          <p:cNvPr id="4" name="dataset card 1"/>
          <p:cNvSpPr/>
          <p:nvPr/>
        </p:nvSpPr>
        <p:spPr>
          <a:xfrm>
            <a:off x="457200" y="1234440"/>
            <a:ext cx="2560320" cy="3429000"/>
          </a:xfrm>
          <a:prstGeom prst="roundRect">
            <a:avLst>
              <a:gd name="adj" fmla="val 4286"/>
            </a:avLst>
          </a:prstGeom>
          <a:solidFill>
            <a:schemeClr val="bg2"/>
          </a:solidFill>
          <a:ln w="12700">
            <a:solidFill>
              <a:schemeClr val="bg2"/>
            </a:solidFill>
            <a:prstDash val="solid"/>
          </a:ln>
        </p:spPr>
      </p:sp>
      <p:pic>
        <p:nvPicPr>
          <p:cNvPr id="5" name="Image 0" descr="Skin lesion example input">    </p:cNvPr>
          <p:cNvPicPr>
            <a:picLocks noChangeAspect="1"/>
          </p:cNvPicPr>
          <p:nvPr/>
        </p:nvPicPr>
        <p:blipFill>
          <a:blip r:embed="rId1"/>
          <a:stretch>
            <a:fillRect/>
          </a:stretch>
        </p:blipFill>
        <p:spPr>
          <a:xfrm>
            <a:off x="1005840" y="1371600"/>
            <a:ext cx="1463040" cy="1463040"/>
          </a:xfrm>
          <a:prstGeom prst="rect">
            <a:avLst/>
          </a:prstGeom>
        </p:spPr>
      </p:pic>
      <p:sp>
        <p:nvSpPr>
          <p:cNvPr id="6" name="Text 2"/>
          <p:cNvSpPr txBox="1"/>
          <p:nvPr/>
        </p:nvSpPr>
        <p:spPr>
          <a:xfrm>
            <a:off x="685800" y="2971800"/>
            <a:ext cx="2103120" cy="320040"/>
          </a:xfrm>
          <a:prstGeom prst="rect">
            <a:avLst/>
          </a:prstGeom>
          <a:noFill/>
          <a:ln/>
        </p:spPr>
        <p:txBody>
          <a:bodyPr wrap="square" lIns="0" tIns="0" rIns="0" bIns="0" rtlCol="0" anchor="t"/>
          <a:lstStyle/>
          <a:p>
            <a:pPr algn="ctr" indent="0" marL="0">
              <a:buNone/>
            </a:pPr>
            <a:r>
              <a:rPr lang="en-US" sz="1600" b="1" dirty="0">
                <a:solidFill>
                  <a:schemeClr val="tx2"/>
                </a:solidFill>
              </a:rPr>
              <a:t>Skin lesion</a:t>
            </a:r>
            <a:endParaRPr lang="en-US" sz="1600" dirty="0"/>
          </a:p>
        </p:txBody>
      </p:sp>
      <p:sp>
        <p:nvSpPr>
          <p:cNvPr id="7" name="Text 3"/>
          <p:cNvSpPr txBox="1"/>
          <p:nvPr/>
        </p:nvSpPr>
        <p:spPr>
          <a:xfrm>
            <a:off x="640080" y="3383280"/>
            <a:ext cx="2194560" cy="1188720"/>
          </a:xfrm>
          <a:prstGeom prst="rect">
            <a:avLst/>
          </a:prstGeom>
          <a:noFill/>
          <a:ln/>
        </p:spPr>
        <p:txBody>
          <a:bodyPr wrap="square" lIns="0" tIns="0" rIns="0" bIns="0" rtlCol="0" anchor="t"/>
          <a:lstStyle/>
          <a:p>
            <a:pPr algn="ctr" indent="0" marL="0">
              <a:spcAft>
                <a:spcPts val="400"/>
              </a:spcAft>
              <a:buNone/>
            </a:pPr>
            <a:r>
              <a:rPr lang="en-US" sz="1400" dirty="0">
                <a:solidFill>
                  <a:schemeClr val="tx1"/>
                </a:solidFill>
              </a:rPr>
              <a:t>ISIC 2018 · 2,594 pairs</a:t>
            </a:r>
            <a:endParaRPr lang="en-US" sz="1400" dirty="0"/>
          </a:p>
          <a:p>
            <a:pPr algn="ctr" indent="0" marL="0">
              <a:spcAft>
                <a:spcPts val="400"/>
              </a:spcAft>
              <a:buNone/>
            </a:pPr>
            <a:r>
              <a:rPr lang="en-US" sz="1400" dirty="0">
                <a:solidFill>
                  <a:schemeClr val="tx1"/>
                </a:solidFill>
              </a:rPr>
              <a:t>Train / val: 2,334 / 260</a:t>
            </a:r>
            <a:endParaRPr lang="en-US" sz="1400" dirty="0"/>
          </a:p>
          <a:p>
            <a:pPr algn="ctr" indent="0" marL="0">
              <a:spcAft>
                <a:spcPts val="400"/>
              </a:spcAft>
              <a:buNone/>
            </a:pPr>
            <a:r>
              <a:rPr lang="en-US" sz="1400" b="1" dirty="0">
                <a:solidFill>
                  <a:schemeClr val="accent1"/>
                </a:solidFill>
              </a:rPr>
              <a:t>Target: lesion</a:t>
            </a:r>
            <a:endParaRPr lang="en-US" sz="1400" dirty="0"/>
          </a:p>
        </p:txBody>
      </p:sp>
      <p:sp>
        <p:nvSpPr>
          <p:cNvPr id="8" name="dataset card 2"/>
          <p:cNvSpPr/>
          <p:nvPr/>
        </p:nvSpPr>
        <p:spPr>
          <a:xfrm>
            <a:off x="3291840" y="1234440"/>
            <a:ext cx="2560320" cy="3429000"/>
          </a:xfrm>
          <a:prstGeom prst="roundRect">
            <a:avLst>
              <a:gd name="adj" fmla="val 4286"/>
            </a:avLst>
          </a:prstGeom>
          <a:solidFill>
            <a:schemeClr val="bg2"/>
          </a:solidFill>
          <a:ln w="12700">
            <a:solidFill>
              <a:schemeClr val="bg2"/>
            </a:solidFill>
            <a:prstDash val="solid"/>
          </a:ln>
        </p:spPr>
      </p:sp>
      <p:pic>
        <p:nvPicPr>
          <p:cNvPr id="9" name="Image 1" descr="Chest X-ray example input">    </p:cNvPr>
          <p:cNvPicPr>
            <a:picLocks noChangeAspect="1"/>
          </p:cNvPicPr>
          <p:nvPr/>
        </p:nvPicPr>
        <p:blipFill>
          <a:blip r:embed="rId2"/>
          <a:stretch>
            <a:fillRect/>
          </a:stretch>
        </p:blipFill>
        <p:spPr>
          <a:xfrm>
            <a:off x="3840480" y="1371600"/>
            <a:ext cx="1463040" cy="1463040"/>
          </a:xfrm>
          <a:prstGeom prst="rect">
            <a:avLst/>
          </a:prstGeom>
        </p:spPr>
      </p:pic>
      <p:sp>
        <p:nvSpPr>
          <p:cNvPr id="10" name="Text 5"/>
          <p:cNvSpPr txBox="1"/>
          <p:nvPr/>
        </p:nvSpPr>
        <p:spPr>
          <a:xfrm>
            <a:off x="3520440" y="2971800"/>
            <a:ext cx="2103120" cy="320040"/>
          </a:xfrm>
          <a:prstGeom prst="rect">
            <a:avLst/>
          </a:prstGeom>
          <a:noFill/>
          <a:ln/>
        </p:spPr>
        <p:txBody>
          <a:bodyPr wrap="square" lIns="0" tIns="0" rIns="0" bIns="0" rtlCol="0" anchor="t"/>
          <a:lstStyle/>
          <a:p>
            <a:pPr algn="ctr" indent="0" marL="0">
              <a:buNone/>
            </a:pPr>
            <a:r>
              <a:rPr lang="en-US" sz="1600" b="1" dirty="0">
                <a:solidFill>
                  <a:schemeClr val="tx2"/>
                </a:solidFill>
              </a:rPr>
              <a:t>Chest X-ray</a:t>
            </a:r>
            <a:endParaRPr lang="en-US" sz="1600" dirty="0"/>
          </a:p>
        </p:txBody>
      </p:sp>
      <p:sp>
        <p:nvSpPr>
          <p:cNvPr id="11" name="Text 6"/>
          <p:cNvSpPr txBox="1"/>
          <p:nvPr/>
        </p:nvSpPr>
        <p:spPr>
          <a:xfrm>
            <a:off x="3474720" y="3383280"/>
            <a:ext cx="2194560" cy="1188720"/>
          </a:xfrm>
          <a:prstGeom prst="rect">
            <a:avLst/>
          </a:prstGeom>
          <a:noFill/>
          <a:ln/>
        </p:spPr>
        <p:txBody>
          <a:bodyPr wrap="square" lIns="0" tIns="0" rIns="0" bIns="0" rtlCol="0" anchor="t"/>
          <a:lstStyle/>
          <a:p>
            <a:pPr algn="ctr" indent="0" marL="0">
              <a:spcAft>
                <a:spcPts val="400"/>
              </a:spcAft>
              <a:buNone/>
            </a:pPr>
            <a:r>
              <a:rPr lang="en-US" sz="1400" dirty="0">
                <a:solidFill>
                  <a:schemeClr val="tx1"/>
                </a:solidFill>
              </a:rPr>
              <a:t>Montgomery + Shenzhen · 704</a:t>
            </a:r>
            <a:endParaRPr lang="en-US" sz="1400" dirty="0"/>
          </a:p>
          <a:p>
            <a:pPr algn="ctr" indent="0" marL="0">
              <a:spcAft>
                <a:spcPts val="400"/>
              </a:spcAft>
              <a:buNone/>
            </a:pPr>
            <a:r>
              <a:rPr lang="en-US" sz="1400" dirty="0">
                <a:solidFill>
                  <a:schemeClr val="tx1"/>
                </a:solidFill>
              </a:rPr>
              <a:t>Train / val: 598 / 106</a:t>
            </a:r>
            <a:endParaRPr lang="en-US" sz="1400" dirty="0"/>
          </a:p>
          <a:p>
            <a:pPr algn="ctr" indent="0" marL="0">
              <a:spcAft>
                <a:spcPts val="400"/>
              </a:spcAft>
              <a:buNone/>
            </a:pPr>
            <a:r>
              <a:rPr lang="en-US" sz="1400" b="1" dirty="0">
                <a:solidFill>
                  <a:schemeClr val="accent1"/>
                </a:solidFill>
              </a:rPr>
              <a:t>Target: lung fields</a:t>
            </a:r>
            <a:endParaRPr lang="en-US" sz="1400" dirty="0"/>
          </a:p>
        </p:txBody>
      </p:sp>
      <p:sp>
        <p:nvSpPr>
          <p:cNvPr id="12" name="dataset card 3"/>
          <p:cNvSpPr/>
          <p:nvPr/>
        </p:nvSpPr>
        <p:spPr>
          <a:xfrm>
            <a:off x="6126480" y="1234440"/>
            <a:ext cx="2560320" cy="3429000"/>
          </a:xfrm>
          <a:prstGeom prst="roundRect">
            <a:avLst>
              <a:gd name="adj" fmla="val 4286"/>
            </a:avLst>
          </a:prstGeom>
          <a:solidFill>
            <a:schemeClr val="bg2"/>
          </a:solidFill>
          <a:ln w="12700">
            <a:solidFill>
              <a:schemeClr val="bg2"/>
            </a:solidFill>
            <a:prstDash val="solid"/>
          </a:ln>
        </p:spPr>
      </p:sp>
      <p:pic>
        <p:nvPicPr>
          <p:cNvPr id="13" name="Image 2" descr="Brain MRI example input">    </p:cNvPr>
          <p:cNvPicPr>
            <a:picLocks noChangeAspect="1"/>
          </p:cNvPicPr>
          <p:nvPr/>
        </p:nvPicPr>
        <p:blipFill>
          <a:blip r:embed="rId3"/>
          <a:stretch>
            <a:fillRect/>
          </a:stretch>
        </p:blipFill>
        <p:spPr>
          <a:xfrm>
            <a:off x="6675120" y="1371600"/>
            <a:ext cx="1463040" cy="1463040"/>
          </a:xfrm>
          <a:prstGeom prst="rect">
            <a:avLst/>
          </a:prstGeom>
        </p:spPr>
      </p:pic>
      <p:sp>
        <p:nvSpPr>
          <p:cNvPr id="14" name="Text 8"/>
          <p:cNvSpPr txBox="1"/>
          <p:nvPr/>
        </p:nvSpPr>
        <p:spPr>
          <a:xfrm>
            <a:off x="6355080" y="2971800"/>
            <a:ext cx="2103120" cy="320040"/>
          </a:xfrm>
          <a:prstGeom prst="rect">
            <a:avLst/>
          </a:prstGeom>
          <a:noFill/>
          <a:ln/>
        </p:spPr>
        <p:txBody>
          <a:bodyPr wrap="square" lIns="0" tIns="0" rIns="0" bIns="0" rtlCol="0" anchor="t"/>
          <a:lstStyle/>
          <a:p>
            <a:pPr algn="ctr" indent="0" marL="0">
              <a:buNone/>
            </a:pPr>
            <a:r>
              <a:rPr lang="en-US" sz="1600" b="1" dirty="0">
                <a:solidFill>
                  <a:schemeClr val="tx2"/>
                </a:solidFill>
              </a:rPr>
              <a:t>Brain MRI</a:t>
            </a:r>
            <a:endParaRPr lang="en-US" sz="1600" dirty="0"/>
          </a:p>
        </p:txBody>
      </p:sp>
      <p:sp>
        <p:nvSpPr>
          <p:cNvPr id="15" name="Text 9"/>
          <p:cNvSpPr txBox="1"/>
          <p:nvPr/>
        </p:nvSpPr>
        <p:spPr>
          <a:xfrm>
            <a:off x="6309360" y="3383280"/>
            <a:ext cx="2194560" cy="1188720"/>
          </a:xfrm>
          <a:prstGeom prst="rect">
            <a:avLst/>
          </a:prstGeom>
          <a:noFill/>
          <a:ln/>
        </p:spPr>
        <p:txBody>
          <a:bodyPr wrap="square" lIns="0" tIns="0" rIns="0" bIns="0" rtlCol="0" anchor="t"/>
          <a:lstStyle/>
          <a:p>
            <a:pPr algn="ctr" indent="0" marL="0">
              <a:spcAft>
                <a:spcPts val="400"/>
              </a:spcAft>
              <a:buNone/>
            </a:pPr>
            <a:r>
              <a:rPr lang="en-US" sz="1400" dirty="0">
                <a:solidFill>
                  <a:schemeClr val="tx1"/>
                </a:solidFill>
              </a:rPr>
              <a:t>BraTS 2020 FLAIR · 105 slices</a:t>
            </a:r>
            <a:endParaRPr lang="en-US" sz="1400" dirty="0"/>
          </a:p>
          <a:p>
            <a:pPr algn="ctr" indent="0" marL="0">
              <a:spcAft>
                <a:spcPts val="400"/>
              </a:spcAft>
              <a:buNone/>
            </a:pPr>
            <a:r>
              <a:rPr lang="en-US" sz="1400" dirty="0">
                <a:solidFill>
                  <a:schemeClr val="tx1"/>
                </a:solidFill>
              </a:rPr>
              <a:t>Train / val: 89 / 16</a:t>
            </a:r>
            <a:endParaRPr lang="en-US" sz="1400" dirty="0"/>
          </a:p>
          <a:p>
            <a:pPr algn="ctr" indent="0" marL="0">
              <a:spcAft>
                <a:spcPts val="400"/>
              </a:spcAft>
              <a:buNone/>
            </a:pPr>
            <a:r>
              <a:rPr lang="en-US" sz="1400" b="1" dirty="0">
                <a:solidFill>
                  <a:schemeClr val="accent1"/>
                </a:solidFill>
              </a:rPr>
              <a:t>Target: whole tumour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Pre-processing and box prompting</a:t>
            </a:r>
            <a:endParaRPr lang="en-US" sz="3000" dirty="0"/>
          </a:p>
        </p:txBody>
      </p:sp>
      <p:sp>
        <p:nvSpPr>
          <p:cNvPr id="4" name="step card 1"/>
          <p:cNvSpPr/>
          <p:nvPr/>
        </p:nvSpPr>
        <p:spPr>
          <a:xfrm>
            <a:off x="457200" y="1280160"/>
            <a:ext cx="1920240" cy="1783080"/>
          </a:xfrm>
          <a:prstGeom prst="roundRect">
            <a:avLst>
              <a:gd name="adj" fmla="val 6154"/>
            </a:avLst>
          </a:prstGeom>
          <a:solidFill>
            <a:schemeClr val="bg2"/>
          </a:solidFill>
          <a:ln w="12700">
            <a:solidFill>
              <a:schemeClr val="bg2"/>
            </a:solidFill>
            <a:prstDash val="solid"/>
          </a:ln>
        </p:spPr>
      </p:sp>
      <p:sp>
        <p:nvSpPr>
          <p:cNvPr id="5" name="badge 1"/>
          <p:cNvSpPr/>
          <p:nvPr/>
        </p:nvSpPr>
        <p:spPr>
          <a:xfrm>
            <a:off x="640080" y="141732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143000" y="1444752"/>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Resize</a:t>
            </a:r>
            <a:endParaRPr lang="en-US" sz="1600" dirty="0"/>
          </a:p>
        </p:txBody>
      </p:sp>
      <p:sp>
        <p:nvSpPr>
          <p:cNvPr id="8" name="Text 5"/>
          <p:cNvSpPr txBox="1"/>
          <p:nvPr/>
        </p:nvSpPr>
        <p:spPr>
          <a:xfrm>
            <a:off x="640080" y="1965960"/>
            <a:ext cx="1600200" cy="1051560"/>
          </a:xfrm>
          <a:prstGeom prst="rect">
            <a:avLst/>
          </a:prstGeom>
          <a:noFill/>
          <a:ln/>
        </p:spPr>
        <p:txBody>
          <a:bodyPr wrap="square" lIns="0" tIns="0" rIns="0" bIns="0" rtlCol="0" anchor="t"/>
          <a:lstStyle/>
          <a:p>
            <a:pPr indent="0" marL="0">
              <a:buNone/>
            </a:pPr>
            <a:r>
              <a:rPr lang="en-US" sz="1400" dirty="0">
                <a:solidFill>
                  <a:schemeClr val="tx1"/>
                </a:solidFill>
              </a:rPr>
              <a:t>256×256 RGB; masks nearest-neighbour, binarised</a:t>
            </a:r>
            <a:endParaRPr lang="en-US" sz="1400" dirty="0"/>
          </a:p>
        </p:txBody>
      </p:sp>
      <p:sp>
        <p:nvSpPr>
          <p:cNvPr id="9" name="step card 2"/>
          <p:cNvSpPr/>
          <p:nvPr/>
        </p:nvSpPr>
        <p:spPr>
          <a:xfrm>
            <a:off x="2587752" y="1280160"/>
            <a:ext cx="1920240" cy="1783080"/>
          </a:xfrm>
          <a:prstGeom prst="roundRect">
            <a:avLst>
              <a:gd name="adj" fmla="val 6154"/>
            </a:avLst>
          </a:prstGeom>
          <a:solidFill>
            <a:schemeClr val="bg2"/>
          </a:solidFill>
          <a:ln w="12700">
            <a:solidFill>
              <a:schemeClr val="bg2"/>
            </a:solidFill>
            <a:prstDash val="solid"/>
          </a:ln>
        </p:spPr>
      </p:sp>
      <p:sp>
        <p:nvSpPr>
          <p:cNvPr id="10" name="badge 2"/>
          <p:cNvSpPr/>
          <p:nvPr/>
        </p:nvSpPr>
        <p:spPr>
          <a:xfrm>
            <a:off x="2770632" y="141732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2770632" y="1417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3273552" y="1444752"/>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Normalise</a:t>
            </a:r>
            <a:endParaRPr lang="en-US" sz="1600" dirty="0"/>
          </a:p>
        </p:txBody>
      </p:sp>
      <p:sp>
        <p:nvSpPr>
          <p:cNvPr id="13" name="Text 10"/>
          <p:cNvSpPr txBox="1"/>
          <p:nvPr/>
        </p:nvSpPr>
        <p:spPr>
          <a:xfrm>
            <a:off x="2770632" y="1965960"/>
            <a:ext cx="1600200" cy="1051560"/>
          </a:xfrm>
          <a:prstGeom prst="rect">
            <a:avLst/>
          </a:prstGeom>
          <a:noFill/>
          <a:ln/>
        </p:spPr>
        <p:txBody>
          <a:bodyPr wrap="square" lIns="0" tIns="0" rIns="0" bIns="0" rtlCol="0" anchor="t"/>
          <a:lstStyle/>
          <a:p>
            <a:pPr indent="0" marL="0">
              <a:buNone/>
            </a:pPr>
            <a:r>
              <a:rPr lang="en-US" sz="1400" dirty="0">
                <a:solidFill>
                  <a:schemeClr val="tx1"/>
                </a:solidFill>
              </a:rPr>
              <a:t>Pixel values scaled to [0, 1] tensors</a:t>
            </a:r>
            <a:endParaRPr lang="en-US" sz="1400" dirty="0"/>
          </a:p>
        </p:txBody>
      </p:sp>
      <p:sp>
        <p:nvSpPr>
          <p:cNvPr id="14" name="step card 3"/>
          <p:cNvSpPr/>
          <p:nvPr/>
        </p:nvSpPr>
        <p:spPr>
          <a:xfrm>
            <a:off x="4718304" y="1280160"/>
            <a:ext cx="1920240" cy="1783080"/>
          </a:xfrm>
          <a:prstGeom prst="roundRect">
            <a:avLst>
              <a:gd name="adj" fmla="val 6154"/>
            </a:avLst>
          </a:prstGeom>
          <a:solidFill>
            <a:schemeClr val="bg2"/>
          </a:solidFill>
          <a:ln w="12700">
            <a:solidFill>
              <a:schemeClr val="bg2"/>
            </a:solidFill>
            <a:prstDash val="solid"/>
          </a:ln>
        </p:spPr>
      </p:sp>
      <p:sp>
        <p:nvSpPr>
          <p:cNvPr id="15" name="badge 3"/>
          <p:cNvSpPr/>
          <p:nvPr/>
        </p:nvSpPr>
        <p:spPr>
          <a:xfrm>
            <a:off x="4901184" y="1417320"/>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4901184" y="1417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5404104" y="1444752"/>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Split</a:t>
            </a:r>
            <a:endParaRPr lang="en-US" sz="1600" dirty="0"/>
          </a:p>
        </p:txBody>
      </p:sp>
      <p:sp>
        <p:nvSpPr>
          <p:cNvPr id="18" name="Text 15"/>
          <p:cNvSpPr txBox="1"/>
          <p:nvPr/>
        </p:nvSpPr>
        <p:spPr>
          <a:xfrm>
            <a:off x="4901184" y="1965960"/>
            <a:ext cx="1600200" cy="1051560"/>
          </a:xfrm>
          <a:prstGeom prst="rect">
            <a:avLst/>
          </a:prstGeom>
          <a:noFill/>
          <a:ln/>
        </p:spPr>
        <p:txBody>
          <a:bodyPr wrap="square" lIns="0" tIns="0" rIns="0" bIns="0" rtlCol="0" anchor="t"/>
          <a:lstStyle/>
          <a:p>
            <a:pPr indent="0" marL="0">
              <a:buNone/>
            </a:pPr>
            <a:r>
              <a:rPr lang="en-US" sz="1400" dirty="0">
                <a:solidFill>
                  <a:schemeClr val="tx1"/>
                </a:solidFill>
              </a:rPr>
              <a:t>Seeded shuffle: 90/10 skin, 85/15 X-ray and MRI</a:t>
            </a:r>
            <a:endParaRPr lang="en-US" sz="1400" dirty="0"/>
          </a:p>
        </p:txBody>
      </p:sp>
      <p:sp>
        <p:nvSpPr>
          <p:cNvPr id="19" name="step card 4"/>
          <p:cNvSpPr/>
          <p:nvPr/>
        </p:nvSpPr>
        <p:spPr>
          <a:xfrm>
            <a:off x="6848856" y="1280160"/>
            <a:ext cx="1920240" cy="1783080"/>
          </a:xfrm>
          <a:prstGeom prst="roundRect">
            <a:avLst>
              <a:gd name="adj" fmla="val 6154"/>
            </a:avLst>
          </a:prstGeom>
          <a:solidFill>
            <a:schemeClr val="bg2"/>
          </a:solidFill>
          <a:ln w="12700">
            <a:solidFill>
              <a:schemeClr val="bg2"/>
            </a:solidFill>
            <a:prstDash val="solid"/>
          </a:ln>
        </p:spPr>
      </p:sp>
      <p:sp>
        <p:nvSpPr>
          <p:cNvPr id="20" name="badge 4"/>
          <p:cNvSpPr/>
          <p:nvPr/>
        </p:nvSpPr>
        <p:spPr>
          <a:xfrm>
            <a:off x="7031736" y="1417320"/>
            <a:ext cx="384048" cy="384048"/>
          </a:xfrm>
          <a:prstGeom prst="ellipse">
            <a:avLst/>
          </a:prstGeom>
          <a:solidFill>
            <a:schemeClr val="accent1"/>
          </a:solidFill>
          <a:ln w="12700">
            <a:solidFill>
              <a:schemeClr val="accent1"/>
            </a:solidFill>
            <a:prstDash val="solid"/>
          </a:ln>
        </p:spPr>
      </p:sp>
      <p:sp>
        <p:nvSpPr>
          <p:cNvPr id="21" name="Text 18"/>
          <p:cNvSpPr txBox="1"/>
          <p:nvPr/>
        </p:nvSpPr>
        <p:spPr>
          <a:xfrm>
            <a:off x="7031736" y="1417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7534656" y="1444752"/>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Box prompt</a:t>
            </a:r>
            <a:endParaRPr lang="en-US" sz="1600" dirty="0"/>
          </a:p>
        </p:txBody>
      </p:sp>
      <p:sp>
        <p:nvSpPr>
          <p:cNvPr id="23" name="Text 20"/>
          <p:cNvSpPr txBox="1"/>
          <p:nvPr/>
        </p:nvSpPr>
        <p:spPr>
          <a:xfrm>
            <a:off x="7031736" y="1965960"/>
            <a:ext cx="1600200" cy="1051560"/>
          </a:xfrm>
          <a:prstGeom prst="rect">
            <a:avLst/>
          </a:prstGeom>
          <a:noFill/>
          <a:ln/>
        </p:spPr>
        <p:txBody>
          <a:bodyPr wrap="square" lIns="0" tIns="0" rIns="0" bIns="0" rtlCol="0" anchor="t"/>
          <a:lstStyle/>
          <a:p>
            <a:pPr indent="0" marL="0">
              <a:buNone/>
            </a:pPr>
            <a:r>
              <a:rPr lang="en-US" sz="1400" dirty="0">
                <a:solidFill>
                  <a:schemeClr val="tx1"/>
                </a:solidFill>
              </a:rPr>
              <a:t>From the mask, up to 5 px random jitter</a:t>
            </a:r>
            <a:endParaRPr lang="en-US" sz="1400" dirty="0"/>
          </a:p>
        </p:txBody>
      </p:sp>
      <p:sp>
        <p:nvSpPr>
          <p:cNvPr id="24" name="Text 21"/>
          <p:cNvSpPr txBox="1"/>
          <p:nvPr/>
        </p:nvSpPr>
        <p:spPr>
          <a:xfrm>
            <a:off x="457200" y="3291840"/>
            <a:ext cx="8229600" cy="320040"/>
          </a:xfrm>
          <a:prstGeom prst="rect">
            <a:avLst/>
          </a:prstGeom>
          <a:noFill/>
          <a:ln/>
        </p:spPr>
        <p:txBody>
          <a:bodyPr wrap="square" lIns="0" tIns="0" rIns="0" bIns="0" rtlCol="0" anchor="t"/>
          <a:lstStyle/>
          <a:p>
            <a:pPr indent="0" marL="0">
              <a:buNone/>
            </a:pPr>
            <a:r>
              <a:rPr lang="en-US" sz="1600" b="1" dirty="0">
                <a:solidFill>
                  <a:schemeClr val="tx2"/>
                </a:solidFill>
              </a:rPr>
              <a:t>MRI slice extraction (BraTS 2020)</a:t>
            </a:r>
            <a:endParaRPr lang="en-US" sz="1600" dirty="0"/>
          </a:p>
        </p:txBody>
      </p:sp>
      <p:sp>
        <p:nvSpPr>
          <p:cNvPr id="25" name="mri chip 1"/>
          <p:cNvSpPr/>
          <p:nvPr/>
        </p:nvSpPr>
        <p:spPr>
          <a:xfrm>
            <a:off x="457200" y="3703320"/>
            <a:ext cx="2103120" cy="777240"/>
          </a:xfrm>
          <a:prstGeom prst="roundRect">
            <a:avLst>
              <a:gd name="adj" fmla="val 14118"/>
            </a:avLst>
          </a:prstGeom>
          <a:solidFill>
            <a:schemeClr val="accent4"/>
          </a:solidFill>
          <a:ln w="12700">
            <a:solidFill>
              <a:schemeClr val="accent4"/>
            </a:solidFill>
            <a:prstDash val="solid"/>
          </a:ln>
        </p:spPr>
      </p:sp>
      <p:sp>
        <p:nvSpPr>
          <p:cNvPr id="26" name="Text 23"/>
          <p:cNvSpPr txBox="1"/>
          <p:nvPr/>
        </p:nvSpPr>
        <p:spPr>
          <a:xfrm>
            <a:off x="594360" y="3749040"/>
            <a:ext cx="1828800" cy="685800"/>
          </a:xfrm>
          <a:prstGeom prst="rect">
            <a:avLst/>
          </a:prstGeom>
          <a:noFill/>
          <a:ln/>
        </p:spPr>
        <p:txBody>
          <a:bodyPr wrap="square" lIns="0" tIns="0" rIns="0" bIns="0" rtlCol="0" anchor="ctr"/>
          <a:lstStyle/>
          <a:p>
            <a:pPr algn="ctr" indent="0" marL="0">
              <a:buNone/>
            </a:pPr>
            <a:r>
              <a:rPr lang="en-US" sz="1400" b="1" dirty="0">
                <a:solidFill>
                  <a:schemeClr val="bg1"/>
                </a:solidFill>
              </a:rPr>
              <a:t>369 volumes found</a:t>
            </a:r>
            <a:endParaRPr lang="en-US" sz="1400" dirty="0"/>
          </a:p>
        </p:txBody>
      </p:sp>
      <p:sp>
        <p:nvSpPr>
          <p:cNvPr id="27" name="Text 24"/>
          <p:cNvSpPr txBox="1"/>
          <p:nvPr/>
        </p:nvSpPr>
        <p:spPr>
          <a:xfrm>
            <a:off x="2560320" y="3840480"/>
            <a:ext cx="457200" cy="5029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28" name="mri chip 2"/>
          <p:cNvSpPr/>
          <p:nvPr/>
        </p:nvSpPr>
        <p:spPr>
          <a:xfrm>
            <a:off x="3017520" y="3703320"/>
            <a:ext cx="3017520" cy="777240"/>
          </a:xfrm>
          <a:prstGeom prst="roundRect">
            <a:avLst>
              <a:gd name="adj" fmla="val 14118"/>
            </a:avLst>
          </a:prstGeom>
          <a:solidFill>
            <a:schemeClr val="accent1"/>
          </a:solidFill>
          <a:ln w="12700">
            <a:solidFill>
              <a:schemeClr val="accent1"/>
            </a:solidFill>
            <a:prstDash val="solid"/>
          </a:ln>
        </p:spPr>
      </p:sp>
      <p:sp>
        <p:nvSpPr>
          <p:cNvPr id="29" name="Text 26"/>
          <p:cNvSpPr txBox="1"/>
          <p:nvPr/>
        </p:nvSpPr>
        <p:spPr>
          <a:xfrm>
            <a:off x="3154680" y="3749040"/>
            <a:ext cx="2743200" cy="685800"/>
          </a:xfrm>
          <a:prstGeom prst="rect">
            <a:avLst/>
          </a:prstGeom>
          <a:noFill/>
          <a:ln/>
        </p:spPr>
        <p:txBody>
          <a:bodyPr wrap="square" lIns="0" tIns="0" rIns="0" bIns="0" rtlCol="0" anchor="ctr"/>
          <a:lstStyle/>
          <a:p>
            <a:pPr algn="ctr" indent="0" marL="0">
              <a:buNone/>
            </a:pPr>
            <a:r>
              <a:rPr lang="en-US" sz="1400" b="1" dirty="0">
                <a:solidFill>
                  <a:schemeClr val="bg1"/>
                </a:solidFill>
              </a:rPr>
              <a:t>40 patients × 3 central FLAIR slices</a:t>
            </a:r>
            <a:endParaRPr lang="en-US" sz="1400" dirty="0"/>
          </a:p>
        </p:txBody>
      </p:sp>
      <p:sp>
        <p:nvSpPr>
          <p:cNvPr id="30" name="Text 27"/>
          <p:cNvSpPr txBox="1"/>
          <p:nvPr/>
        </p:nvSpPr>
        <p:spPr>
          <a:xfrm>
            <a:off x="6035040" y="3840480"/>
            <a:ext cx="457200" cy="5029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31" name="mri chip 3"/>
          <p:cNvSpPr/>
          <p:nvPr/>
        </p:nvSpPr>
        <p:spPr>
          <a:xfrm>
            <a:off x="6492240" y="3703320"/>
            <a:ext cx="2194560" cy="777240"/>
          </a:xfrm>
          <a:prstGeom prst="roundRect">
            <a:avLst>
              <a:gd name="adj" fmla="val 14118"/>
            </a:avLst>
          </a:prstGeom>
          <a:solidFill>
            <a:schemeClr val="accent2"/>
          </a:solidFill>
          <a:ln w="12700">
            <a:solidFill>
              <a:schemeClr val="accent2"/>
            </a:solidFill>
            <a:prstDash val="solid"/>
          </a:ln>
        </p:spPr>
      </p:sp>
      <p:sp>
        <p:nvSpPr>
          <p:cNvPr id="32" name="Text 29"/>
          <p:cNvSpPr txBox="1"/>
          <p:nvPr/>
        </p:nvSpPr>
        <p:spPr>
          <a:xfrm>
            <a:off x="6629400" y="3749040"/>
            <a:ext cx="1920240" cy="685800"/>
          </a:xfrm>
          <a:prstGeom prst="rect">
            <a:avLst/>
          </a:prstGeom>
          <a:noFill/>
          <a:ln/>
        </p:spPr>
        <p:txBody>
          <a:bodyPr wrap="square" lIns="0" tIns="0" rIns="0" bIns="0" rtlCol="0" anchor="ctr"/>
          <a:lstStyle/>
          <a:p>
            <a:pPr algn="ctr" indent="0" marL="0">
              <a:buNone/>
            </a:pPr>
            <a:r>
              <a:rPr lang="en-US" sz="1400" b="1" dirty="0">
                <a:solidFill>
                  <a:schemeClr val="bg1"/>
                </a:solidFill>
              </a:rPr>
              <a:t>105 tumour-positive 2D slices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Decoder-only fine-tuning</a:t>
            </a:r>
            <a:endParaRPr lang="en-US" sz="3000" dirty="0"/>
          </a:p>
        </p:txBody>
      </p:sp>
      <p:sp>
        <p:nvSpPr>
          <p:cNvPr id="4" name="param card 1"/>
          <p:cNvSpPr/>
          <p:nvPr/>
        </p:nvSpPr>
        <p:spPr>
          <a:xfrm>
            <a:off x="457200" y="1280160"/>
            <a:ext cx="3566160" cy="960120"/>
          </a:xfrm>
          <a:prstGeom prst="roundRect">
            <a:avLst>
              <a:gd name="adj" fmla="val 11429"/>
            </a:avLst>
          </a:prstGeom>
          <a:solidFill>
            <a:schemeClr val="bg2"/>
          </a:solidFill>
          <a:ln w="12700">
            <a:solidFill>
              <a:schemeClr val="bg2"/>
            </a:solidFill>
            <a:prstDash val="solid"/>
          </a:ln>
        </p:spPr>
      </p:sp>
      <p:sp>
        <p:nvSpPr>
          <p:cNvPr id="5" name="Text 2"/>
          <p:cNvSpPr txBox="1"/>
          <p:nvPr/>
        </p:nvSpPr>
        <p:spPr>
          <a:xfrm>
            <a:off x="640080" y="1280160"/>
            <a:ext cx="1417320" cy="960120"/>
          </a:xfrm>
          <a:prstGeom prst="rect">
            <a:avLst/>
          </a:prstGeom>
          <a:noFill/>
          <a:ln/>
        </p:spPr>
        <p:txBody>
          <a:bodyPr wrap="square" lIns="0" tIns="0" rIns="0" bIns="0" rtlCol="0" anchor="ctr"/>
          <a:lstStyle/>
          <a:p>
            <a:pPr indent="0" marL="0">
              <a:buNone/>
            </a:pPr>
            <a:r>
              <a:rPr lang="en-US" sz="3000" b="1" dirty="0">
                <a:solidFill>
                  <a:schemeClr val="accent1"/>
                </a:solidFill>
              </a:rPr>
              <a:t>10.2M</a:t>
            </a:r>
            <a:endParaRPr lang="en-US" sz="3000" dirty="0"/>
          </a:p>
        </p:txBody>
      </p:sp>
      <p:sp>
        <p:nvSpPr>
          <p:cNvPr id="6" name="Text 3"/>
          <p:cNvSpPr txBox="1"/>
          <p:nvPr/>
        </p:nvSpPr>
        <p:spPr>
          <a:xfrm>
            <a:off x="2103120" y="1280160"/>
            <a:ext cx="1828800" cy="960120"/>
          </a:xfrm>
          <a:prstGeom prst="rect">
            <a:avLst/>
          </a:prstGeom>
          <a:noFill/>
          <a:ln/>
        </p:spPr>
        <p:txBody>
          <a:bodyPr wrap="square" lIns="0" tIns="0" rIns="0" bIns="0" rtlCol="0" anchor="ctr"/>
          <a:lstStyle/>
          <a:p>
            <a:pPr indent="0" marL="0">
              <a:buNone/>
            </a:pPr>
            <a:r>
              <a:rPr lang="en-US" sz="1400" dirty="0">
                <a:solidFill>
                  <a:schemeClr val="tx1"/>
                </a:solidFill>
              </a:rPr>
              <a:t>total parameters (10,223,204)</a:t>
            </a:r>
            <a:endParaRPr lang="en-US" sz="1400" dirty="0"/>
          </a:p>
        </p:txBody>
      </p:sp>
      <p:sp>
        <p:nvSpPr>
          <p:cNvPr id="7" name="param card 2"/>
          <p:cNvSpPr/>
          <p:nvPr/>
        </p:nvSpPr>
        <p:spPr>
          <a:xfrm>
            <a:off x="457200" y="2377440"/>
            <a:ext cx="3566160" cy="960120"/>
          </a:xfrm>
          <a:prstGeom prst="roundRect">
            <a:avLst>
              <a:gd name="adj" fmla="val 11429"/>
            </a:avLst>
          </a:prstGeom>
          <a:solidFill>
            <a:schemeClr val="bg2"/>
          </a:solidFill>
          <a:ln w="12700">
            <a:solidFill>
              <a:schemeClr val="bg2"/>
            </a:solidFill>
            <a:prstDash val="solid"/>
          </a:ln>
        </p:spPr>
      </p:sp>
      <p:sp>
        <p:nvSpPr>
          <p:cNvPr id="8" name="Text 5"/>
          <p:cNvSpPr txBox="1"/>
          <p:nvPr/>
        </p:nvSpPr>
        <p:spPr>
          <a:xfrm>
            <a:off x="640080" y="2377440"/>
            <a:ext cx="1417320" cy="960120"/>
          </a:xfrm>
          <a:prstGeom prst="rect">
            <a:avLst/>
          </a:prstGeom>
          <a:noFill/>
          <a:ln/>
        </p:spPr>
        <p:txBody>
          <a:bodyPr wrap="square" lIns="0" tIns="0" rIns="0" bIns="0" rtlCol="0" anchor="ctr"/>
          <a:lstStyle/>
          <a:p>
            <a:pPr indent="0" marL="0">
              <a:buNone/>
            </a:pPr>
            <a:r>
              <a:rPr lang="en-US" sz="3000" b="1" dirty="0">
                <a:solidFill>
                  <a:schemeClr val="accent5"/>
                </a:solidFill>
              </a:rPr>
              <a:t>6.16M</a:t>
            </a:r>
            <a:endParaRPr lang="en-US" sz="3000" dirty="0"/>
          </a:p>
        </p:txBody>
      </p:sp>
      <p:sp>
        <p:nvSpPr>
          <p:cNvPr id="9" name="Text 6"/>
          <p:cNvSpPr txBox="1"/>
          <p:nvPr/>
        </p:nvSpPr>
        <p:spPr>
          <a:xfrm>
            <a:off x="2103120" y="2377440"/>
            <a:ext cx="1828800" cy="960120"/>
          </a:xfrm>
          <a:prstGeom prst="rect">
            <a:avLst/>
          </a:prstGeom>
          <a:noFill/>
          <a:ln/>
        </p:spPr>
        <p:txBody>
          <a:bodyPr wrap="square" lIns="0" tIns="0" rIns="0" bIns="0" rtlCol="0" anchor="ctr"/>
          <a:lstStyle/>
          <a:p>
            <a:pPr indent="0" marL="0">
              <a:buNone/>
            </a:pPr>
            <a:r>
              <a:rPr lang="en-US" sz="1400" dirty="0">
                <a:solidFill>
                  <a:schemeClr val="tx1"/>
                </a:solidFill>
              </a:rPr>
              <a:t>frozen image encoder</a:t>
            </a:r>
            <a:endParaRPr lang="en-US" sz="1400" dirty="0"/>
          </a:p>
        </p:txBody>
      </p:sp>
      <p:sp>
        <p:nvSpPr>
          <p:cNvPr id="10" name="param card 3"/>
          <p:cNvSpPr/>
          <p:nvPr/>
        </p:nvSpPr>
        <p:spPr>
          <a:xfrm>
            <a:off x="457200" y="3474720"/>
            <a:ext cx="3566160" cy="960120"/>
          </a:xfrm>
          <a:prstGeom prst="roundRect">
            <a:avLst>
              <a:gd name="adj" fmla="val 11429"/>
            </a:avLst>
          </a:prstGeom>
          <a:solidFill>
            <a:schemeClr val="bg2"/>
          </a:solidFill>
          <a:ln w="12700">
            <a:solidFill>
              <a:schemeClr val="bg2"/>
            </a:solidFill>
            <a:prstDash val="solid"/>
          </a:ln>
        </p:spPr>
      </p:sp>
      <p:sp>
        <p:nvSpPr>
          <p:cNvPr id="11" name="Text 8"/>
          <p:cNvSpPr txBox="1"/>
          <p:nvPr/>
        </p:nvSpPr>
        <p:spPr>
          <a:xfrm>
            <a:off x="640080" y="3474720"/>
            <a:ext cx="1417320" cy="960120"/>
          </a:xfrm>
          <a:prstGeom prst="rect">
            <a:avLst/>
          </a:prstGeom>
          <a:noFill/>
          <a:ln/>
        </p:spPr>
        <p:txBody>
          <a:bodyPr wrap="square" lIns="0" tIns="0" rIns="0" bIns="0" rtlCol="0" anchor="ctr"/>
          <a:lstStyle/>
          <a:p>
            <a:pPr indent="0" marL="0">
              <a:buNone/>
            </a:pPr>
            <a:r>
              <a:rPr lang="en-US" sz="3000" b="1" dirty="0">
                <a:solidFill>
                  <a:schemeClr val="accent2"/>
                </a:solidFill>
              </a:rPr>
              <a:t>4.06M</a:t>
            </a:r>
            <a:endParaRPr lang="en-US" sz="3000" dirty="0"/>
          </a:p>
        </p:txBody>
      </p:sp>
      <p:sp>
        <p:nvSpPr>
          <p:cNvPr id="12" name="Text 9"/>
          <p:cNvSpPr txBox="1"/>
          <p:nvPr/>
        </p:nvSpPr>
        <p:spPr>
          <a:xfrm>
            <a:off x="2103120" y="3474720"/>
            <a:ext cx="1828800" cy="960120"/>
          </a:xfrm>
          <a:prstGeom prst="rect">
            <a:avLst/>
          </a:prstGeom>
          <a:noFill/>
          <a:ln/>
        </p:spPr>
        <p:txBody>
          <a:bodyPr wrap="square" lIns="0" tIns="0" rIns="0" bIns="0" rtlCol="0" anchor="ctr"/>
          <a:lstStyle/>
          <a:p>
            <a:pPr indent="0" marL="0">
              <a:buNone/>
            </a:pPr>
            <a:r>
              <a:rPr lang="en-US" sz="1400" dirty="0">
                <a:solidFill>
                  <a:schemeClr val="tx1"/>
                </a:solidFill>
              </a:rPr>
              <a:t>trained mask decoder (39.7%)</a:t>
            </a:r>
            <a:endParaRPr lang="en-US" sz="1400" dirty="0"/>
          </a:p>
        </p:txBody>
      </p:sp>
      <p:sp>
        <p:nvSpPr>
          <p:cNvPr id="13" name="setup card"/>
          <p:cNvSpPr/>
          <p:nvPr/>
        </p:nvSpPr>
        <p:spPr>
          <a:xfrm>
            <a:off x="4297680" y="1280160"/>
            <a:ext cx="4389120" cy="3154680"/>
          </a:xfrm>
          <a:prstGeom prst="roundRect">
            <a:avLst>
              <a:gd name="adj" fmla="val 3478"/>
            </a:avLst>
          </a:prstGeom>
          <a:solidFill>
            <a:schemeClr val="bg2"/>
          </a:solidFill>
          <a:ln w="12700">
            <a:solidFill>
              <a:schemeClr val="bg2"/>
            </a:solidFill>
            <a:prstDash val="solid"/>
          </a:ln>
        </p:spPr>
      </p:sp>
      <p:sp>
        <p:nvSpPr>
          <p:cNvPr id="14" name="Text 11"/>
          <p:cNvSpPr txBox="1"/>
          <p:nvPr/>
        </p:nvSpPr>
        <p:spPr>
          <a:xfrm>
            <a:off x="4526280" y="1417320"/>
            <a:ext cx="3931920" cy="365760"/>
          </a:xfrm>
          <a:prstGeom prst="rect">
            <a:avLst/>
          </a:prstGeom>
          <a:noFill/>
          <a:ln/>
        </p:spPr>
        <p:txBody>
          <a:bodyPr wrap="square" lIns="0" tIns="0" rIns="0" bIns="0" rtlCol="0" anchor="t"/>
          <a:lstStyle/>
          <a:p>
            <a:pPr indent="0" marL="0">
              <a:buNone/>
            </a:pPr>
            <a:r>
              <a:rPr lang="en-US" sz="1600" b="1" dirty="0">
                <a:solidFill>
                  <a:schemeClr val="tx2"/>
                </a:solidFill>
              </a:rPr>
              <a:t>Training setup</a:t>
            </a:r>
            <a:endParaRPr lang="en-US" sz="1600" dirty="0"/>
          </a:p>
        </p:txBody>
      </p:sp>
      <p:sp>
        <p:nvSpPr>
          <p:cNvPr id="15" name="Text 12"/>
          <p:cNvSpPr txBox="1"/>
          <p:nvPr/>
        </p:nvSpPr>
        <p:spPr>
          <a:xfrm>
            <a:off x="4526280" y="1874520"/>
            <a:ext cx="3931920" cy="2468880"/>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Optimizer: </a:t>
            </a:r>
            <a:pPr indent="0" marL="0">
              <a:spcAft>
                <a:spcPts val="900"/>
              </a:spcAft>
              <a:buNone/>
            </a:pPr>
            <a:r>
              <a:rPr lang="en-US" sz="1500" dirty="0">
                <a:solidFill>
                  <a:schemeClr val="tx1"/>
                </a:solidFill>
              </a:rPr>
              <a:t>AdamW, lr 1e-4</a:t>
            </a:r>
            <a:endParaRPr lang="en-US" sz="1500" dirty="0"/>
          </a:p>
          <a:p>
            <a:pPr indent="0" marL="0">
              <a:spcAft>
                <a:spcPts val="900"/>
              </a:spcAft>
              <a:buNone/>
            </a:pPr>
            <a:r>
              <a:rPr lang="en-US" sz="1500" b="1" dirty="0">
                <a:solidFill>
                  <a:schemeClr val="accent1"/>
                </a:solidFill>
              </a:rPr>
              <a:t>Loss: </a:t>
            </a:r>
            <a:pPr indent="0" marL="0">
              <a:spcAft>
                <a:spcPts val="900"/>
              </a:spcAft>
              <a:buNone/>
            </a:pPr>
            <a:r>
              <a:rPr lang="en-US" sz="1500" dirty="0">
                <a:solidFill>
                  <a:schemeClr val="tx1"/>
                </a:solidFill>
              </a:rPr>
              <a:t>Dice loss</a:t>
            </a:r>
            <a:endParaRPr lang="en-US" sz="1500" dirty="0"/>
          </a:p>
          <a:p>
            <a:pPr indent="0" marL="0">
              <a:spcAft>
                <a:spcPts val="900"/>
              </a:spcAft>
              <a:buNone/>
            </a:pPr>
            <a:r>
              <a:rPr lang="en-US" sz="1500" b="1" dirty="0">
                <a:solidFill>
                  <a:schemeClr val="accent1"/>
                </a:solidFill>
              </a:rPr>
              <a:t>Batch / input: </a:t>
            </a:r>
            <a:pPr indent="0" marL="0">
              <a:spcAft>
                <a:spcPts val="900"/>
              </a:spcAft>
              <a:buNone/>
            </a:pPr>
            <a:r>
              <a:rPr lang="en-US" sz="1500" dirty="0">
                <a:solidFill>
                  <a:schemeClr val="tx1"/>
                </a:solidFill>
              </a:rPr>
              <a:t>4 / 256×256</a:t>
            </a:r>
            <a:endParaRPr lang="en-US" sz="1500" dirty="0"/>
          </a:p>
          <a:p>
            <a:pPr indent="0" marL="0">
              <a:spcAft>
                <a:spcPts val="900"/>
              </a:spcAft>
              <a:buNone/>
            </a:pPr>
            <a:r>
              <a:rPr lang="en-US" sz="1500" b="1" dirty="0">
                <a:solidFill>
                  <a:schemeClr val="accent1"/>
                </a:solidFill>
              </a:rPr>
              <a:t>Epochs: </a:t>
            </a:r>
            <a:pPr indent="0" marL="0">
              <a:spcAft>
                <a:spcPts val="900"/>
              </a:spcAft>
              <a:buNone/>
            </a:pPr>
            <a:r>
              <a:rPr lang="en-US" sz="1500" dirty="0">
                <a:solidFill>
                  <a:schemeClr val="tx1"/>
                </a:solidFill>
              </a:rPr>
              <a:t>5 skin · 3 X-ray · 3 MRI</a:t>
            </a:r>
            <a:endParaRPr lang="en-US" sz="1500" dirty="0"/>
          </a:p>
          <a:p>
            <a:pPr indent="0" marL="0">
              <a:spcAft>
                <a:spcPts val="900"/>
              </a:spcAft>
              <a:buNone/>
            </a:pPr>
            <a:r>
              <a:rPr lang="en-US" sz="1500" b="1" dirty="0">
                <a:solidFill>
                  <a:schemeClr val="accent1"/>
                </a:solidFill>
              </a:rPr>
              <a:t>Prompt: </a:t>
            </a:r>
            <a:pPr indent="0" marL="0">
              <a:spcAft>
                <a:spcPts val="900"/>
              </a:spcAft>
              <a:buNone/>
            </a:pPr>
            <a:r>
              <a:rPr lang="en-US" sz="1500" dirty="0">
                <a:solidFill>
                  <a:schemeClr val="tx1"/>
                </a:solidFill>
              </a:rPr>
              <a:t>Jittered ground-truth box</a:t>
            </a:r>
            <a:endParaRPr lang="en-US" sz="1500" dirty="0"/>
          </a:p>
          <a:p>
            <a:pPr indent="0" marL="0">
              <a:spcAft>
                <a:spcPts val="900"/>
              </a:spcAft>
              <a:buNone/>
            </a:pPr>
            <a:r>
              <a:rPr lang="en-US" sz="1500" b="1" dirty="0">
                <a:solidFill>
                  <a:schemeClr val="accent1"/>
                </a:solidFill>
              </a:rPr>
              <a:t>Hardware: </a:t>
            </a:r>
            <a:pPr indent="0" marL="0">
              <a:spcAft>
                <a:spcPts val="900"/>
              </a:spcAft>
              <a:buNone/>
            </a:pPr>
            <a:r>
              <a:rPr lang="en-US" sz="1500" dirty="0">
                <a:solidFill>
                  <a:schemeClr val="tx1"/>
                </a:solidFill>
              </a:rPr>
              <a:t>Tesla T4 (Colab)</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Training behaviour</a:t>
            </a:r>
            <a:endParaRPr lang="en-US" sz="3000" dirty="0"/>
          </a:p>
        </p:txBody>
      </p:sp>
      <p:pic>
        <p:nvPicPr>
          <p:cNvPr id="4" name="Image 0" descr="Training loss curves">    </p:cNvPr>
          <p:cNvPicPr>
            <a:picLocks noChangeAspect="1"/>
          </p:cNvPicPr>
          <p:nvPr/>
        </p:nvPicPr>
        <p:blipFill>
          <a:blip r:embed="rId1"/>
          <a:stretch>
            <a:fillRect/>
          </a:stretch>
        </p:blipFill>
        <p:spPr>
          <a:xfrm>
            <a:off x="457200" y="1325880"/>
            <a:ext cx="4937760" cy="2867086"/>
          </a:xfrm>
          <a:prstGeom prst="rect">
            <a:avLst/>
          </a:prstGeom>
        </p:spPr>
      </p:pic>
      <p:sp>
        <p:nvSpPr>
          <p:cNvPr id="5" name="Text 1"/>
          <p:cNvSpPr txBox="1"/>
          <p:nvPr/>
        </p:nvSpPr>
        <p:spPr>
          <a:xfrm>
            <a:off x="457200" y="4266118"/>
            <a:ext cx="4937760" cy="274320"/>
          </a:xfrm>
          <a:prstGeom prst="rect">
            <a:avLst/>
          </a:prstGeom>
          <a:noFill/>
          <a:ln/>
        </p:spPr>
        <p:txBody>
          <a:bodyPr wrap="square" lIns="0" tIns="0" rIns="0" bIns="0" rtlCol="0" anchor="t"/>
          <a:lstStyle/>
          <a:p>
            <a:pPr indent="0" marL="0">
              <a:buNone/>
            </a:pPr>
            <a:r>
              <a:rPr lang="en-US" sz="1100" i="1" dirty="0">
                <a:solidFill>
                  <a:schemeClr val="accent5"/>
                </a:solidFill>
              </a:rPr>
              <a:t>Average Dice loss per epoch (from the training logs).</a:t>
            </a:r>
            <a:endParaRPr lang="en-US" sz="1100" dirty="0"/>
          </a:p>
        </p:txBody>
      </p:sp>
      <p:sp>
        <p:nvSpPr>
          <p:cNvPr id="6" name="takeaway card"/>
          <p:cNvSpPr/>
          <p:nvPr/>
        </p:nvSpPr>
        <p:spPr>
          <a:xfrm>
            <a:off x="5669280" y="1325880"/>
            <a:ext cx="3017520" cy="2867086"/>
          </a:xfrm>
          <a:prstGeom prst="roundRect">
            <a:avLst>
              <a:gd name="adj" fmla="val 3827"/>
            </a:avLst>
          </a:prstGeom>
          <a:solidFill>
            <a:schemeClr val="bg2"/>
          </a:solidFill>
          <a:ln w="12700">
            <a:solidFill>
              <a:schemeClr val="bg2"/>
            </a:solidFill>
            <a:prstDash val="solid"/>
          </a:ln>
        </p:spPr>
      </p:sp>
      <p:sp>
        <p:nvSpPr>
          <p:cNvPr id="7" name="Text 3"/>
          <p:cNvSpPr txBox="1"/>
          <p:nvPr/>
        </p:nvSpPr>
        <p:spPr>
          <a:xfrm>
            <a:off x="5897880" y="1463040"/>
            <a:ext cx="2651760" cy="2592766"/>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What the logs show</a:t>
            </a:r>
            <a:endParaRPr lang="en-US" sz="1400" dirty="0"/>
          </a:p>
          <a:p>
            <a:pPr marL="342900" indent="-342900">
              <a:spcAft>
                <a:spcPts val="800"/>
              </a:spcAft>
              <a:buSzPct val="100000"/>
              <a:buChar char="•"/>
            </a:pPr>
            <a:r>
              <a:rPr lang="en-US" sz="1400" dirty="0">
                <a:solidFill>
                  <a:schemeClr val="tx1"/>
                </a:solidFill>
              </a:rPr>
              <a:t>All three runs decrease steadily.</a:t>
            </a:r>
            <a:endParaRPr lang="en-US" sz="1400" dirty="0"/>
          </a:p>
          <a:p>
            <a:pPr marL="342900" indent="-342900">
              <a:spcAft>
                <a:spcPts val="800"/>
              </a:spcAft>
              <a:buSzPct val="100000"/>
              <a:buChar char="•"/>
            </a:pPr>
            <a:r>
              <a:rPr lang="en-US" sz="1400" dirty="0">
                <a:solidFill>
                  <a:schemeClr val="tx1"/>
                </a:solidFill>
              </a:rPr>
              <a:t>X-ray: 0.050 → 0.041</a:t>
            </a:r>
            <a:endParaRPr lang="en-US" sz="1400" dirty="0"/>
          </a:p>
          <a:p>
            <a:pPr marL="342900" indent="-342900">
              <a:spcAft>
                <a:spcPts val="800"/>
              </a:spcAft>
              <a:buSzPct val="100000"/>
              <a:buChar char="•"/>
            </a:pPr>
            <a:r>
              <a:rPr lang="en-US" sz="1400" dirty="0">
                <a:solidFill>
                  <a:schemeClr val="tx1"/>
                </a:solidFill>
              </a:rPr>
              <a:t>Skin: 0.075 → 0.062</a:t>
            </a:r>
            <a:endParaRPr lang="en-US" sz="1400" dirty="0"/>
          </a:p>
          <a:p>
            <a:pPr marL="342900" indent="-342900">
              <a:spcAft>
                <a:spcPts val="800"/>
              </a:spcAft>
              <a:buSzPct val="100000"/>
              <a:buChar char="•"/>
            </a:pPr>
            <a:r>
              <a:rPr lang="en-US" sz="1400" dirty="0">
                <a:solidFill>
                  <a:schemeClr val="tx1"/>
                </a:solidFill>
              </a:rPr>
              <a:t>MRI: 0.234 → 0.169, still the highest loss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Implementation journey</a:t>
            </a:r>
            <a:endParaRPr lang="en-US" sz="3000" dirty="0"/>
          </a:p>
        </p:txBody>
      </p:sp>
      <p:sp>
        <p:nvSpPr>
          <p:cNvPr id="4" name="timeline line"/>
          <p:cNvSpPr/>
          <p:nvPr/>
        </p:nvSpPr>
        <p:spPr>
          <a:xfrm>
            <a:off x="1417320" y="1783080"/>
            <a:ext cx="6309360" cy="0"/>
          </a:xfrm>
          <a:prstGeom prst="line">
            <a:avLst/>
          </a:prstGeom>
          <a:noFill/>
          <a:ln w="25400">
            <a:solidFill>
              <a:schemeClr val="accent5"/>
            </a:solidFill>
            <a:prstDash val="solid"/>
          </a:ln>
        </p:spPr>
      </p:sp>
      <p:sp>
        <p:nvSpPr>
          <p:cNvPr id="5" name="milestone Task 4"/>
          <p:cNvSpPr/>
          <p:nvPr/>
        </p:nvSpPr>
        <p:spPr>
          <a:xfrm>
            <a:off x="1005840" y="1325880"/>
            <a:ext cx="822960" cy="822960"/>
          </a:xfrm>
          <a:prstGeom prst="ellipse">
            <a:avLst/>
          </a:prstGeom>
          <a:solidFill>
            <a:schemeClr val="accent1"/>
          </a:solidFill>
          <a:ln w="12700">
            <a:solidFill>
              <a:schemeClr val="accent1"/>
            </a:solidFill>
            <a:prstDash val="solid"/>
          </a:ln>
        </p:spPr>
      </p:sp>
      <p:sp>
        <p:nvSpPr>
          <p:cNvPr id="6" name="Text 3"/>
          <p:cNvSpPr txBox="1"/>
          <p:nvPr/>
        </p:nvSpPr>
        <p:spPr>
          <a:xfrm>
            <a:off x="1005840" y="1325880"/>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rPr>
              <a:t>25%</a:t>
            </a:r>
            <a:endParaRPr lang="en-US" sz="1800" dirty="0"/>
          </a:p>
        </p:txBody>
      </p:sp>
      <p:sp>
        <p:nvSpPr>
          <p:cNvPr id="7" name="milestone card 1"/>
          <p:cNvSpPr/>
          <p:nvPr/>
        </p:nvSpPr>
        <p:spPr>
          <a:xfrm>
            <a:off x="457200" y="2423160"/>
            <a:ext cx="1920240" cy="1783080"/>
          </a:xfrm>
          <a:prstGeom prst="roundRect">
            <a:avLst>
              <a:gd name="adj" fmla="val 6154"/>
            </a:avLst>
          </a:prstGeom>
          <a:solidFill>
            <a:schemeClr val="bg2"/>
          </a:solidFill>
          <a:ln w="12700">
            <a:solidFill>
              <a:schemeClr val="bg2"/>
            </a:solidFill>
            <a:prstDash val="solid"/>
          </a:ln>
        </p:spPr>
      </p:sp>
      <p:sp>
        <p:nvSpPr>
          <p:cNvPr id="8" name="Text 5"/>
          <p:cNvSpPr txBox="1"/>
          <p:nvPr/>
        </p:nvSpPr>
        <p:spPr>
          <a:xfrm>
            <a:off x="640080" y="2560320"/>
            <a:ext cx="1554480" cy="320040"/>
          </a:xfrm>
          <a:prstGeom prst="rect">
            <a:avLst/>
          </a:prstGeom>
          <a:noFill/>
          <a:ln/>
        </p:spPr>
        <p:txBody>
          <a:bodyPr wrap="square" lIns="0" tIns="0" rIns="0" bIns="0" rtlCol="0" anchor="t"/>
          <a:lstStyle/>
          <a:p>
            <a:pPr indent="0" marL="0">
              <a:buNone/>
            </a:pPr>
            <a:r>
              <a:rPr lang="en-US" sz="1600" b="1" dirty="0">
                <a:solidFill>
                  <a:schemeClr val="tx2"/>
                </a:solidFill>
              </a:rPr>
              <a:t>Task 4</a:t>
            </a:r>
            <a:endParaRPr lang="en-US" sz="1600" dirty="0"/>
          </a:p>
        </p:txBody>
      </p:sp>
      <p:sp>
        <p:nvSpPr>
          <p:cNvPr id="9" name="Text 6"/>
          <p:cNvSpPr txBox="1"/>
          <p:nvPr/>
        </p:nvSpPr>
        <p:spPr>
          <a:xfrm>
            <a:off x="640080" y="2971800"/>
            <a:ext cx="1600200" cy="1188720"/>
          </a:xfrm>
          <a:prstGeom prst="rect">
            <a:avLst/>
          </a:prstGeom>
          <a:noFill/>
          <a:ln/>
        </p:spPr>
        <p:txBody>
          <a:bodyPr wrap="square" lIns="0" tIns="0" rIns="0" bIns="0" rtlCol="0" anchor="t"/>
          <a:lstStyle/>
          <a:p>
            <a:pPr indent="0" marL="0">
              <a:buNone/>
            </a:pPr>
            <a:r>
              <a:rPr lang="en-US" sz="1400" dirty="0">
                <a:solidFill>
                  <a:schemeClr val="tx1"/>
                </a:solidFill>
              </a:rPr>
              <a:t>Datasets, pre-processing, model loading, zero-shot skin baseline</a:t>
            </a:r>
            <a:endParaRPr lang="en-US" sz="1400" dirty="0"/>
          </a:p>
        </p:txBody>
      </p:sp>
      <p:sp>
        <p:nvSpPr>
          <p:cNvPr id="10" name="milestone Task 5"/>
          <p:cNvSpPr/>
          <p:nvPr/>
        </p:nvSpPr>
        <p:spPr>
          <a:xfrm>
            <a:off x="3136392" y="1325880"/>
            <a:ext cx="822960" cy="822960"/>
          </a:xfrm>
          <a:prstGeom prst="ellipse">
            <a:avLst/>
          </a:prstGeom>
          <a:solidFill>
            <a:schemeClr val="accent1"/>
          </a:solidFill>
          <a:ln w="12700">
            <a:solidFill>
              <a:schemeClr val="accent1"/>
            </a:solidFill>
            <a:prstDash val="solid"/>
          </a:ln>
        </p:spPr>
      </p:sp>
      <p:sp>
        <p:nvSpPr>
          <p:cNvPr id="11" name="Text 8"/>
          <p:cNvSpPr txBox="1"/>
          <p:nvPr/>
        </p:nvSpPr>
        <p:spPr>
          <a:xfrm>
            <a:off x="3136392" y="1325880"/>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rPr>
              <a:t>50%</a:t>
            </a:r>
            <a:endParaRPr lang="en-US" sz="1800" dirty="0"/>
          </a:p>
        </p:txBody>
      </p:sp>
      <p:sp>
        <p:nvSpPr>
          <p:cNvPr id="12" name="milestone card 2"/>
          <p:cNvSpPr/>
          <p:nvPr/>
        </p:nvSpPr>
        <p:spPr>
          <a:xfrm>
            <a:off x="2587752" y="2423160"/>
            <a:ext cx="1920240" cy="1783080"/>
          </a:xfrm>
          <a:prstGeom prst="roundRect">
            <a:avLst>
              <a:gd name="adj" fmla="val 6154"/>
            </a:avLst>
          </a:prstGeom>
          <a:solidFill>
            <a:schemeClr val="bg2"/>
          </a:solidFill>
          <a:ln w="12700">
            <a:solidFill>
              <a:schemeClr val="bg2"/>
            </a:solidFill>
            <a:prstDash val="solid"/>
          </a:ln>
        </p:spPr>
      </p:sp>
      <p:sp>
        <p:nvSpPr>
          <p:cNvPr id="13" name="Text 10"/>
          <p:cNvSpPr txBox="1"/>
          <p:nvPr/>
        </p:nvSpPr>
        <p:spPr>
          <a:xfrm>
            <a:off x="2770632" y="2560320"/>
            <a:ext cx="1554480" cy="320040"/>
          </a:xfrm>
          <a:prstGeom prst="rect">
            <a:avLst/>
          </a:prstGeom>
          <a:noFill/>
          <a:ln/>
        </p:spPr>
        <p:txBody>
          <a:bodyPr wrap="square" lIns="0" tIns="0" rIns="0" bIns="0" rtlCol="0" anchor="t"/>
          <a:lstStyle/>
          <a:p>
            <a:pPr indent="0" marL="0">
              <a:buNone/>
            </a:pPr>
            <a:r>
              <a:rPr lang="en-US" sz="1600" b="1" dirty="0">
                <a:solidFill>
                  <a:schemeClr val="tx2"/>
                </a:solidFill>
              </a:rPr>
              <a:t>Task 5</a:t>
            </a:r>
            <a:endParaRPr lang="en-US" sz="1600" dirty="0"/>
          </a:p>
        </p:txBody>
      </p:sp>
      <p:sp>
        <p:nvSpPr>
          <p:cNvPr id="14" name="Text 11"/>
          <p:cNvSpPr txBox="1"/>
          <p:nvPr/>
        </p:nvSpPr>
        <p:spPr>
          <a:xfrm>
            <a:off x="2770632" y="2971800"/>
            <a:ext cx="1600200" cy="1188720"/>
          </a:xfrm>
          <a:prstGeom prst="rect">
            <a:avLst/>
          </a:prstGeom>
          <a:noFill/>
          <a:ln/>
        </p:spPr>
        <p:txBody>
          <a:bodyPr wrap="square" lIns="0" tIns="0" rIns="0" bIns="0" rtlCol="0" anchor="t"/>
          <a:lstStyle/>
          <a:p>
            <a:pPr indent="0" marL="0">
              <a:buNone/>
            </a:pPr>
            <a:r>
              <a:rPr lang="en-US" sz="1400" dirty="0">
                <a:solidFill>
                  <a:schemeClr val="tx1"/>
                </a:solidFill>
              </a:rPr>
              <a:t>Part A fine-tuning done; zero-shot X-ray and MRI</a:t>
            </a:r>
            <a:endParaRPr lang="en-US" sz="1400" dirty="0"/>
          </a:p>
        </p:txBody>
      </p:sp>
      <p:sp>
        <p:nvSpPr>
          <p:cNvPr id="15" name="milestone Task 6"/>
          <p:cNvSpPr/>
          <p:nvPr/>
        </p:nvSpPr>
        <p:spPr>
          <a:xfrm>
            <a:off x="5266944" y="1325880"/>
            <a:ext cx="822960" cy="822960"/>
          </a:xfrm>
          <a:prstGeom prst="ellipse">
            <a:avLst/>
          </a:prstGeom>
          <a:solidFill>
            <a:schemeClr val="accent1"/>
          </a:solidFill>
          <a:ln w="12700">
            <a:solidFill>
              <a:schemeClr val="accent1"/>
            </a:solidFill>
            <a:prstDash val="solid"/>
          </a:ln>
        </p:spPr>
      </p:sp>
      <p:sp>
        <p:nvSpPr>
          <p:cNvPr id="16" name="Text 13"/>
          <p:cNvSpPr txBox="1"/>
          <p:nvPr/>
        </p:nvSpPr>
        <p:spPr>
          <a:xfrm>
            <a:off x="5266944" y="1325880"/>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rPr>
              <a:t>75%</a:t>
            </a:r>
            <a:endParaRPr lang="en-US" sz="1800" dirty="0"/>
          </a:p>
        </p:txBody>
      </p:sp>
      <p:sp>
        <p:nvSpPr>
          <p:cNvPr id="17" name="milestone card 3"/>
          <p:cNvSpPr/>
          <p:nvPr/>
        </p:nvSpPr>
        <p:spPr>
          <a:xfrm>
            <a:off x="4718304" y="2423160"/>
            <a:ext cx="1920240" cy="1783080"/>
          </a:xfrm>
          <a:prstGeom prst="roundRect">
            <a:avLst>
              <a:gd name="adj" fmla="val 6154"/>
            </a:avLst>
          </a:prstGeom>
          <a:solidFill>
            <a:schemeClr val="bg2"/>
          </a:solidFill>
          <a:ln w="12700">
            <a:solidFill>
              <a:schemeClr val="bg2"/>
            </a:solidFill>
            <a:prstDash val="solid"/>
          </a:ln>
        </p:spPr>
      </p:sp>
      <p:sp>
        <p:nvSpPr>
          <p:cNvPr id="18" name="Text 15"/>
          <p:cNvSpPr txBox="1"/>
          <p:nvPr/>
        </p:nvSpPr>
        <p:spPr>
          <a:xfrm>
            <a:off x="4901184" y="2560320"/>
            <a:ext cx="1554480" cy="320040"/>
          </a:xfrm>
          <a:prstGeom prst="rect">
            <a:avLst/>
          </a:prstGeom>
          <a:noFill/>
          <a:ln/>
        </p:spPr>
        <p:txBody>
          <a:bodyPr wrap="square" lIns="0" tIns="0" rIns="0" bIns="0" rtlCol="0" anchor="t"/>
          <a:lstStyle/>
          <a:p>
            <a:pPr indent="0" marL="0">
              <a:buNone/>
            </a:pPr>
            <a:r>
              <a:rPr lang="en-US" sz="1600" b="1" dirty="0">
                <a:solidFill>
                  <a:schemeClr val="tx2"/>
                </a:solidFill>
              </a:rPr>
              <a:t>Task 6</a:t>
            </a:r>
            <a:endParaRPr lang="en-US" sz="1600" dirty="0"/>
          </a:p>
        </p:txBody>
      </p:sp>
      <p:sp>
        <p:nvSpPr>
          <p:cNvPr id="19" name="Text 16"/>
          <p:cNvSpPr txBox="1"/>
          <p:nvPr/>
        </p:nvSpPr>
        <p:spPr>
          <a:xfrm>
            <a:off x="4901184" y="2971800"/>
            <a:ext cx="1600200" cy="1188720"/>
          </a:xfrm>
          <a:prstGeom prst="rect">
            <a:avLst/>
          </a:prstGeom>
          <a:noFill/>
          <a:ln/>
        </p:spPr>
        <p:txBody>
          <a:bodyPr wrap="square" lIns="0" tIns="0" rIns="0" bIns="0" rtlCol="0" anchor="t"/>
          <a:lstStyle/>
          <a:p>
            <a:pPr indent="0" marL="0">
              <a:buNone/>
            </a:pPr>
            <a:r>
              <a:rPr lang="en-US" sz="1400" dirty="0">
                <a:solidFill>
                  <a:schemeClr val="tx1"/>
                </a:solidFill>
              </a:rPr>
              <a:t>Part B fine-tuning, comparison script, GUI prototype</a:t>
            </a:r>
            <a:endParaRPr lang="en-US" sz="1400" dirty="0"/>
          </a:p>
        </p:txBody>
      </p:sp>
      <p:sp>
        <p:nvSpPr>
          <p:cNvPr id="20" name="milestone Task 7"/>
          <p:cNvSpPr/>
          <p:nvPr/>
        </p:nvSpPr>
        <p:spPr>
          <a:xfrm>
            <a:off x="7397496" y="1325880"/>
            <a:ext cx="822960" cy="822960"/>
          </a:xfrm>
          <a:prstGeom prst="ellipse">
            <a:avLst/>
          </a:prstGeom>
          <a:solidFill>
            <a:schemeClr val="accent2"/>
          </a:solidFill>
          <a:ln w="12700">
            <a:solidFill>
              <a:schemeClr val="accent2"/>
            </a:solidFill>
            <a:prstDash val="solid"/>
          </a:ln>
        </p:spPr>
      </p:sp>
      <p:sp>
        <p:nvSpPr>
          <p:cNvPr id="21" name="Text 18"/>
          <p:cNvSpPr txBox="1"/>
          <p:nvPr/>
        </p:nvSpPr>
        <p:spPr>
          <a:xfrm>
            <a:off x="7397496" y="1325880"/>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rPr>
              <a:t>100%</a:t>
            </a:r>
            <a:endParaRPr lang="en-US" sz="1800" dirty="0"/>
          </a:p>
        </p:txBody>
      </p:sp>
      <p:sp>
        <p:nvSpPr>
          <p:cNvPr id="22" name="milestone card 4"/>
          <p:cNvSpPr/>
          <p:nvPr/>
        </p:nvSpPr>
        <p:spPr>
          <a:xfrm>
            <a:off x="6848856" y="2423160"/>
            <a:ext cx="1920240" cy="1783080"/>
          </a:xfrm>
          <a:prstGeom prst="roundRect">
            <a:avLst>
              <a:gd name="adj" fmla="val 6154"/>
            </a:avLst>
          </a:prstGeom>
          <a:solidFill>
            <a:schemeClr val="bg2"/>
          </a:solidFill>
          <a:ln w="12700">
            <a:solidFill>
              <a:schemeClr val="bg2"/>
            </a:solidFill>
            <a:prstDash val="solid"/>
          </a:ln>
        </p:spPr>
      </p:sp>
      <p:sp>
        <p:nvSpPr>
          <p:cNvPr id="23" name="Text 20"/>
          <p:cNvSpPr txBox="1"/>
          <p:nvPr/>
        </p:nvSpPr>
        <p:spPr>
          <a:xfrm>
            <a:off x="7031736" y="2560320"/>
            <a:ext cx="1554480" cy="320040"/>
          </a:xfrm>
          <a:prstGeom prst="rect">
            <a:avLst/>
          </a:prstGeom>
          <a:noFill/>
          <a:ln/>
        </p:spPr>
        <p:txBody>
          <a:bodyPr wrap="square" lIns="0" tIns="0" rIns="0" bIns="0" rtlCol="0" anchor="t"/>
          <a:lstStyle/>
          <a:p>
            <a:pPr indent="0" marL="0">
              <a:buNone/>
            </a:pPr>
            <a:r>
              <a:rPr lang="en-US" sz="1600" b="1" dirty="0">
                <a:solidFill>
                  <a:schemeClr val="tx2"/>
                </a:solidFill>
              </a:rPr>
              <a:t>Task 7</a:t>
            </a:r>
            <a:endParaRPr lang="en-US" sz="1600" dirty="0"/>
          </a:p>
        </p:txBody>
      </p:sp>
      <p:sp>
        <p:nvSpPr>
          <p:cNvPr id="24" name="Text 21"/>
          <p:cNvSpPr txBox="1"/>
          <p:nvPr/>
        </p:nvSpPr>
        <p:spPr>
          <a:xfrm>
            <a:off x="7031736" y="2971800"/>
            <a:ext cx="1600200" cy="1188720"/>
          </a:xfrm>
          <a:prstGeom prst="rect">
            <a:avLst/>
          </a:prstGeom>
          <a:noFill/>
          <a:ln/>
        </p:spPr>
        <p:txBody>
          <a:bodyPr wrap="square" lIns="0" tIns="0" rIns="0" bIns="0" rtlCol="0" anchor="t"/>
          <a:lstStyle/>
          <a:p>
            <a:pPr indent="0" marL="0">
              <a:buNone/>
            </a:pPr>
            <a:r>
              <a:rPr lang="en-US" sz="1400" dirty="0">
                <a:solidFill>
                  <a:schemeClr val="tx1"/>
                </a:solidFill>
              </a:rPr>
              <a:t>Final results, GUI, packaging, report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Part A: skin lesion results</a:t>
            </a:r>
            <a:endParaRPr lang="en-US" sz="3000" dirty="0"/>
          </a:p>
        </p:txBody>
      </p:sp>
      <p:sp>
        <p:nvSpPr>
          <p:cNvPr id="4" name="metric card Dice"/>
          <p:cNvSpPr/>
          <p:nvPr/>
        </p:nvSpPr>
        <p:spPr>
          <a:xfrm>
            <a:off x="457200" y="1280160"/>
            <a:ext cx="3291840" cy="1143000"/>
          </a:xfrm>
          <a:prstGeom prst="roundRect">
            <a:avLst>
              <a:gd name="adj" fmla="val 9600"/>
            </a:avLst>
          </a:prstGeom>
          <a:solidFill>
            <a:schemeClr val="bg2"/>
          </a:solidFill>
          <a:ln w="12700">
            <a:solidFill>
              <a:schemeClr val="bg2"/>
            </a:solidFill>
            <a:prstDash val="solid"/>
          </a:ln>
        </p:spPr>
      </p:sp>
      <p:sp>
        <p:nvSpPr>
          <p:cNvPr id="5" name="Text 2"/>
          <p:cNvSpPr txBox="1"/>
          <p:nvPr/>
        </p:nvSpPr>
        <p:spPr>
          <a:xfrm>
            <a:off x="640080" y="137160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Dice (zero-shot → fine-tuned)</a:t>
            </a:r>
            <a:endParaRPr lang="en-US" sz="1200" dirty="0"/>
          </a:p>
        </p:txBody>
      </p:sp>
      <p:sp>
        <p:nvSpPr>
          <p:cNvPr id="6" name="Text 3"/>
          <p:cNvSpPr txBox="1"/>
          <p:nvPr/>
        </p:nvSpPr>
        <p:spPr>
          <a:xfrm>
            <a:off x="640080" y="1664208"/>
            <a:ext cx="3017520" cy="457200"/>
          </a:xfrm>
          <a:prstGeom prst="rect">
            <a:avLst/>
          </a:prstGeom>
          <a:noFill/>
          <a:ln/>
        </p:spPr>
        <p:txBody>
          <a:bodyPr wrap="square" lIns="0" tIns="0" rIns="0" bIns="0" rtlCol="0" anchor="t"/>
          <a:lstStyle/>
          <a:p>
            <a:pPr indent="0" marL="0">
              <a:buNone/>
            </a:pPr>
            <a:r>
              <a:rPr lang="en-US" sz="2600" dirty="0">
                <a:solidFill>
                  <a:schemeClr val="accent5"/>
                </a:solidFill>
              </a:rPr>
              <a:t>0.8655</a:t>
            </a:r>
            <a:pPr indent="0" marL="0">
              <a:buNone/>
            </a:pPr>
            <a:r>
              <a:rPr lang="en-US" sz="2600" dirty="0">
                <a:solidFill>
                  <a:schemeClr val="accent5"/>
                </a:solidFill>
              </a:rPr>
              <a:t>  →  </a:t>
            </a:r>
            <a:pPr indent="0" marL="0">
              <a:buNone/>
            </a:pPr>
            <a:r>
              <a:rPr lang="en-US" sz="2600" b="1" dirty="0">
                <a:solidFill>
                  <a:schemeClr val="accent1"/>
                </a:solidFill>
              </a:rPr>
              <a:t>0.9344</a:t>
            </a:r>
            <a:endParaRPr lang="en-US" sz="2600" dirty="0"/>
          </a:p>
        </p:txBody>
      </p:sp>
      <p:sp>
        <p:nvSpPr>
          <p:cNvPr id="7" name="Text 4"/>
          <p:cNvSpPr txBox="1"/>
          <p:nvPr/>
        </p:nvSpPr>
        <p:spPr>
          <a:xfrm>
            <a:off x="640080" y="210312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+6.9 Dice points</a:t>
            </a:r>
            <a:endParaRPr lang="en-US" sz="1400" dirty="0"/>
          </a:p>
        </p:txBody>
      </p:sp>
      <p:sp>
        <p:nvSpPr>
          <p:cNvPr id="8" name="metric card IoU"/>
          <p:cNvSpPr/>
          <p:nvPr/>
        </p:nvSpPr>
        <p:spPr>
          <a:xfrm>
            <a:off x="457200" y="2560320"/>
            <a:ext cx="3291840" cy="1143000"/>
          </a:xfrm>
          <a:prstGeom prst="roundRect">
            <a:avLst>
              <a:gd name="adj" fmla="val 9600"/>
            </a:avLst>
          </a:prstGeom>
          <a:solidFill>
            <a:schemeClr val="bg2"/>
          </a:solidFill>
          <a:ln w="12700">
            <a:solidFill>
              <a:schemeClr val="bg2"/>
            </a:solidFill>
            <a:prstDash val="solid"/>
          </a:ln>
        </p:spPr>
      </p:sp>
      <p:sp>
        <p:nvSpPr>
          <p:cNvPr id="9" name="Text 6"/>
          <p:cNvSpPr txBox="1"/>
          <p:nvPr/>
        </p:nvSpPr>
        <p:spPr>
          <a:xfrm>
            <a:off x="640080" y="265176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IoU (zero-shot → fine-tuned)</a:t>
            </a:r>
            <a:endParaRPr lang="en-US" sz="1200" dirty="0"/>
          </a:p>
        </p:txBody>
      </p:sp>
      <p:sp>
        <p:nvSpPr>
          <p:cNvPr id="10" name="Text 7"/>
          <p:cNvSpPr txBox="1"/>
          <p:nvPr/>
        </p:nvSpPr>
        <p:spPr>
          <a:xfrm>
            <a:off x="640080" y="2944368"/>
            <a:ext cx="3017520" cy="457200"/>
          </a:xfrm>
          <a:prstGeom prst="rect">
            <a:avLst/>
          </a:prstGeom>
          <a:noFill/>
          <a:ln/>
        </p:spPr>
        <p:txBody>
          <a:bodyPr wrap="square" lIns="0" tIns="0" rIns="0" bIns="0" rtlCol="0" anchor="t"/>
          <a:lstStyle/>
          <a:p>
            <a:pPr indent="0" marL="0">
              <a:buNone/>
            </a:pPr>
            <a:r>
              <a:rPr lang="en-US" sz="2600" dirty="0">
                <a:solidFill>
                  <a:schemeClr val="accent5"/>
                </a:solidFill>
              </a:rPr>
              <a:t>0.7714</a:t>
            </a:r>
            <a:pPr indent="0" marL="0">
              <a:buNone/>
            </a:pPr>
            <a:r>
              <a:rPr lang="en-US" sz="2600" dirty="0">
                <a:solidFill>
                  <a:schemeClr val="accent5"/>
                </a:solidFill>
              </a:rPr>
              <a:t>  →  </a:t>
            </a:r>
            <a:pPr indent="0" marL="0">
              <a:buNone/>
            </a:pPr>
            <a:r>
              <a:rPr lang="en-US" sz="2600" b="1" dirty="0">
                <a:solidFill>
                  <a:schemeClr val="accent1"/>
                </a:solidFill>
              </a:rPr>
              <a:t>0.8794</a:t>
            </a:r>
            <a:endParaRPr lang="en-US" sz="2600" dirty="0"/>
          </a:p>
        </p:txBody>
      </p:sp>
      <p:sp>
        <p:nvSpPr>
          <p:cNvPr id="11" name="Text 8"/>
          <p:cNvSpPr txBox="1"/>
          <p:nvPr/>
        </p:nvSpPr>
        <p:spPr>
          <a:xfrm>
            <a:off x="640080" y="338328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+10.8 IoU points</a:t>
            </a:r>
            <a:endParaRPr lang="en-US" sz="1400" dirty="0"/>
          </a:p>
        </p:txBody>
      </p:sp>
      <p:pic>
        <p:nvPicPr>
          <p:cNvPr id="12" name="Image 0" descr="Qualitative results">    </p:cNvPr>
          <p:cNvPicPr>
            <a:picLocks noChangeAspect="1"/>
          </p:cNvPicPr>
          <p:nvPr/>
        </p:nvPicPr>
        <p:blipFill>
          <a:blip r:embed="rId1"/>
          <a:stretch>
            <a:fillRect/>
          </a:stretch>
        </p:blipFill>
        <p:spPr>
          <a:xfrm>
            <a:off x="3840480" y="1280160"/>
            <a:ext cx="4754880" cy="2611932"/>
          </a:xfrm>
          <a:prstGeom prst="rect">
            <a:avLst/>
          </a:prstGeom>
        </p:spPr>
      </p:pic>
      <p:sp>
        <p:nvSpPr>
          <p:cNvPr id="13" name="Text 9"/>
          <p:cNvSpPr txBox="1"/>
          <p:nvPr/>
        </p:nvSpPr>
        <p:spPr>
          <a:xfrm>
            <a:off x="3840480" y="3946956"/>
            <a:ext cx="4754880" cy="274320"/>
          </a:xfrm>
          <a:prstGeom prst="rect">
            <a:avLst/>
          </a:prstGeom>
          <a:noFill/>
          <a:ln/>
        </p:spPr>
        <p:txBody>
          <a:bodyPr wrap="square" lIns="0" tIns="0" rIns="0" bIns="0" rtlCol="0" anchor="t"/>
          <a:lstStyle/>
          <a:p>
            <a:pPr indent="0" marL="0">
              <a:buNone/>
            </a:pPr>
            <a:r>
              <a:rPr lang="en-US" sz="1100" i="1" dirty="0">
                <a:solidFill>
                  <a:schemeClr val="accent5"/>
                </a:solidFill>
              </a:rPr>
              <a:t>Input · Ground truth · Zero-shot · Fine-tuned (two validation samples)</a:t>
            </a:r>
            <a:endParaRPr lang="en-US" sz="1100" dirty="0"/>
          </a:p>
        </p:txBody>
      </p:sp>
      <p:sp>
        <p:nvSpPr>
          <p:cNvPr id="14" name="Text 10"/>
          <p:cNvSpPr txBox="1"/>
          <p:nvPr/>
        </p:nvSpPr>
        <p:spPr>
          <a:xfrm>
            <a:off x="457200" y="4315968"/>
            <a:ext cx="8229600" cy="411480"/>
          </a:xfrm>
          <a:prstGeom prst="rect">
            <a:avLst/>
          </a:prstGeom>
          <a:noFill/>
          <a:ln/>
        </p:spPr>
        <p:txBody>
          <a:bodyPr wrap="square" lIns="0" tIns="0" rIns="0" bIns="0" rtlCol="0" anchor="t"/>
          <a:lstStyle/>
          <a:p>
            <a:pPr indent="0" marL="0">
              <a:buNone/>
            </a:pPr>
            <a:r>
              <a:rPr lang="en-US" sz="1400" dirty="0">
                <a:solidFill>
                  <a:schemeClr val="tx1"/>
                </a:solidFill>
              </a:rPr>
              <a:t>Fine-tuning follows irregular lesion borders more closely. 5 epochs, 260 validation images.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Part B: chest X-ray results</a:t>
            </a:r>
            <a:endParaRPr lang="en-US" sz="3000" dirty="0"/>
          </a:p>
        </p:txBody>
      </p:sp>
      <p:sp>
        <p:nvSpPr>
          <p:cNvPr id="4" name="metric card Dice"/>
          <p:cNvSpPr/>
          <p:nvPr/>
        </p:nvSpPr>
        <p:spPr>
          <a:xfrm>
            <a:off x="5394960" y="1280160"/>
            <a:ext cx="3291840" cy="1143000"/>
          </a:xfrm>
          <a:prstGeom prst="roundRect">
            <a:avLst>
              <a:gd name="adj" fmla="val 9600"/>
            </a:avLst>
          </a:prstGeom>
          <a:solidFill>
            <a:schemeClr val="bg2"/>
          </a:solidFill>
          <a:ln w="12700">
            <a:solidFill>
              <a:schemeClr val="bg2"/>
            </a:solidFill>
            <a:prstDash val="solid"/>
          </a:ln>
        </p:spPr>
      </p:sp>
      <p:sp>
        <p:nvSpPr>
          <p:cNvPr id="5" name="Text 2"/>
          <p:cNvSpPr txBox="1"/>
          <p:nvPr/>
        </p:nvSpPr>
        <p:spPr>
          <a:xfrm>
            <a:off x="5577840" y="137160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Dice (zero-shot → fine-tuned)</a:t>
            </a:r>
            <a:endParaRPr lang="en-US" sz="1200" dirty="0"/>
          </a:p>
        </p:txBody>
      </p:sp>
      <p:sp>
        <p:nvSpPr>
          <p:cNvPr id="6" name="Text 3"/>
          <p:cNvSpPr txBox="1"/>
          <p:nvPr/>
        </p:nvSpPr>
        <p:spPr>
          <a:xfrm>
            <a:off x="5577840" y="1664208"/>
            <a:ext cx="3017520" cy="457200"/>
          </a:xfrm>
          <a:prstGeom prst="rect">
            <a:avLst/>
          </a:prstGeom>
          <a:noFill/>
          <a:ln/>
        </p:spPr>
        <p:txBody>
          <a:bodyPr wrap="square" lIns="0" tIns="0" rIns="0" bIns="0" rtlCol="0" anchor="t"/>
          <a:lstStyle/>
          <a:p>
            <a:pPr indent="0" marL="0">
              <a:buNone/>
            </a:pPr>
            <a:r>
              <a:rPr lang="en-US" sz="2600" dirty="0">
                <a:solidFill>
                  <a:schemeClr val="accent5"/>
                </a:solidFill>
              </a:rPr>
              <a:t>0.8741</a:t>
            </a:r>
            <a:pPr indent="0" marL="0">
              <a:buNone/>
            </a:pPr>
            <a:r>
              <a:rPr lang="en-US" sz="2600" dirty="0">
                <a:solidFill>
                  <a:schemeClr val="accent5"/>
                </a:solidFill>
              </a:rPr>
              <a:t>  →  </a:t>
            </a:r>
            <a:pPr indent="0" marL="0">
              <a:buNone/>
            </a:pPr>
            <a:r>
              <a:rPr lang="en-US" sz="2600" b="1" dirty="0">
                <a:solidFill>
                  <a:schemeClr val="accent1"/>
                </a:solidFill>
              </a:rPr>
              <a:t>0.9607</a:t>
            </a:r>
            <a:endParaRPr lang="en-US" sz="2600" dirty="0"/>
          </a:p>
        </p:txBody>
      </p:sp>
      <p:sp>
        <p:nvSpPr>
          <p:cNvPr id="7" name="Text 4"/>
          <p:cNvSpPr txBox="1"/>
          <p:nvPr/>
        </p:nvSpPr>
        <p:spPr>
          <a:xfrm>
            <a:off x="5577840" y="210312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+8.7 Dice points</a:t>
            </a:r>
            <a:endParaRPr lang="en-US" sz="1400" dirty="0"/>
          </a:p>
        </p:txBody>
      </p:sp>
      <p:sp>
        <p:nvSpPr>
          <p:cNvPr id="8" name="metric card IoU"/>
          <p:cNvSpPr/>
          <p:nvPr/>
        </p:nvSpPr>
        <p:spPr>
          <a:xfrm>
            <a:off x="5394960" y="2560320"/>
            <a:ext cx="3291840" cy="1143000"/>
          </a:xfrm>
          <a:prstGeom prst="roundRect">
            <a:avLst>
              <a:gd name="adj" fmla="val 9600"/>
            </a:avLst>
          </a:prstGeom>
          <a:solidFill>
            <a:schemeClr val="bg2"/>
          </a:solidFill>
          <a:ln w="12700">
            <a:solidFill>
              <a:schemeClr val="bg2"/>
            </a:solidFill>
            <a:prstDash val="solid"/>
          </a:ln>
        </p:spPr>
      </p:sp>
      <p:sp>
        <p:nvSpPr>
          <p:cNvPr id="9" name="Text 6"/>
          <p:cNvSpPr txBox="1"/>
          <p:nvPr/>
        </p:nvSpPr>
        <p:spPr>
          <a:xfrm>
            <a:off x="5577840" y="265176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IoU (zero-shot → fine-tuned)</a:t>
            </a:r>
            <a:endParaRPr lang="en-US" sz="1200" dirty="0"/>
          </a:p>
        </p:txBody>
      </p:sp>
      <p:sp>
        <p:nvSpPr>
          <p:cNvPr id="10" name="Text 7"/>
          <p:cNvSpPr txBox="1"/>
          <p:nvPr/>
        </p:nvSpPr>
        <p:spPr>
          <a:xfrm>
            <a:off x="5577840" y="2944368"/>
            <a:ext cx="3017520" cy="457200"/>
          </a:xfrm>
          <a:prstGeom prst="rect">
            <a:avLst/>
          </a:prstGeom>
          <a:noFill/>
          <a:ln/>
        </p:spPr>
        <p:txBody>
          <a:bodyPr wrap="square" lIns="0" tIns="0" rIns="0" bIns="0" rtlCol="0" anchor="t"/>
          <a:lstStyle/>
          <a:p>
            <a:pPr indent="0" marL="0">
              <a:buNone/>
            </a:pPr>
            <a:r>
              <a:rPr lang="en-US" sz="2600" dirty="0">
                <a:solidFill>
                  <a:schemeClr val="accent5"/>
                </a:solidFill>
              </a:rPr>
              <a:t>0.7831</a:t>
            </a:r>
            <a:pPr indent="0" marL="0">
              <a:buNone/>
            </a:pPr>
            <a:r>
              <a:rPr lang="en-US" sz="2600" dirty="0">
                <a:solidFill>
                  <a:schemeClr val="accent5"/>
                </a:solidFill>
              </a:rPr>
              <a:t>  →  </a:t>
            </a:r>
            <a:pPr indent="0" marL="0">
              <a:buNone/>
            </a:pPr>
            <a:r>
              <a:rPr lang="en-US" sz="2600" b="1" dirty="0">
                <a:solidFill>
                  <a:schemeClr val="accent1"/>
                </a:solidFill>
              </a:rPr>
              <a:t>0.9253</a:t>
            </a:r>
            <a:endParaRPr lang="en-US" sz="2600" dirty="0"/>
          </a:p>
        </p:txBody>
      </p:sp>
      <p:sp>
        <p:nvSpPr>
          <p:cNvPr id="11" name="Text 8"/>
          <p:cNvSpPr txBox="1"/>
          <p:nvPr/>
        </p:nvSpPr>
        <p:spPr>
          <a:xfrm>
            <a:off x="5577840" y="338328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+14.2 IoU points</a:t>
            </a:r>
            <a:endParaRPr lang="en-US" sz="1400" dirty="0"/>
          </a:p>
        </p:txBody>
      </p:sp>
      <p:pic>
        <p:nvPicPr>
          <p:cNvPr id="12" name="Image 0" descr="Qualitative results">    </p:cNvPr>
          <p:cNvPicPr>
            <a:picLocks noChangeAspect="1"/>
          </p:cNvPicPr>
          <p:nvPr/>
        </p:nvPicPr>
        <p:blipFill>
          <a:blip r:embed="rId1"/>
          <a:stretch>
            <a:fillRect/>
          </a:stretch>
        </p:blipFill>
        <p:spPr>
          <a:xfrm>
            <a:off x="457200" y="1280160"/>
            <a:ext cx="4754880" cy="2611932"/>
          </a:xfrm>
          <a:prstGeom prst="rect">
            <a:avLst/>
          </a:prstGeom>
        </p:spPr>
      </p:pic>
      <p:sp>
        <p:nvSpPr>
          <p:cNvPr id="13" name="Text 9"/>
          <p:cNvSpPr txBox="1"/>
          <p:nvPr/>
        </p:nvSpPr>
        <p:spPr>
          <a:xfrm>
            <a:off x="457200" y="3946956"/>
            <a:ext cx="4754880" cy="274320"/>
          </a:xfrm>
          <a:prstGeom prst="rect">
            <a:avLst/>
          </a:prstGeom>
          <a:noFill/>
          <a:ln/>
        </p:spPr>
        <p:txBody>
          <a:bodyPr wrap="square" lIns="0" tIns="0" rIns="0" bIns="0" rtlCol="0" anchor="t"/>
          <a:lstStyle/>
          <a:p>
            <a:pPr indent="0" marL="0">
              <a:buNone/>
            </a:pPr>
            <a:r>
              <a:rPr lang="en-US" sz="1100" i="1" dirty="0">
                <a:solidFill>
                  <a:schemeClr val="accent5"/>
                </a:solidFill>
              </a:rPr>
              <a:t>Input · Ground truth · Zero-shot · Fine-tuned (two validation samples)</a:t>
            </a:r>
            <a:endParaRPr lang="en-US" sz="1100" dirty="0"/>
          </a:p>
        </p:txBody>
      </p:sp>
      <p:sp>
        <p:nvSpPr>
          <p:cNvPr id="14" name="Text 10"/>
          <p:cNvSpPr txBox="1"/>
          <p:nvPr/>
        </p:nvSpPr>
        <p:spPr>
          <a:xfrm>
            <a:off x="457200" y="4315968"/>
            <a:ext cx="8229600" cy="411480"/>
          </a:xfrm>
          <a:prstGeom prst="rect">
            <a:avLst/>
          </a:prstGeom>
          <a:noFill/>
          <a:ln/>
        </p:spPr>
        <p:txBody>
          <a:bodyPr wrap="square" lIns="0" tIns="0" rIns="0" bIns="0" rtlCol="0" anchor="t"/>
          <a:lstStyle/>
          <a:p>
            <a:pPr indent="0" marL="0">
              <a:buNone/>
            </a:pPr>
            <a:r>
              <a:rPr lang="en-US" sz="1400" dirty="0">
                <a:solidFill>
                  <a:schemeClr val="tx1"/>
                </a:solidFill>
              </a:rPr>
              <a:t>Zero-shot masks have holes; fine-tuning gives clean lung fields. 3 epochs, 106 validation images.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Part B: MRI results</a:t>
            </a:r>
            <a:endParaRPr lang="en-US" sz="3000" dirty="0"/>
          </a:p>
        </p:txBody>
      </p:sp>
      <p:sp>
        <p:nvSpPr>
          <p:cNvPr id="4" name="metric card Dice"/>
          <p:cNvSpPr/>
          <p:nvPr/>
        </p:nvSpPr>
        <p:spPr>
          <a:xfrm>
            <a:off x="457200" y="1280160"/>
            <a:ext cx="3291840" cy="1143000"/>
          </a:xfrm>
          <a:prstGeom prst="roundRect">
            <a:avLst>
              <a:gd name="adj" fmla="val 9600"/>
            </a:avLst>
          </a:prstGeom>
          <a:solidFill>
            <a:schemeClr val="bg2"/>
          </a:solidFill>
          <a:ln w="12700">
            <a:solidFill>
              <a:schemeClr val="bg2"/>
            </a:solidFill>
            <a:prstDash val="solid"/>
          </a:ln>
        </p:spPr>
      </p:sp>
      <p:sp>
        <p:nvSpPr>
          <p:cNvPr id="5" name="Text 2"/>
          <p:cNvSpPr txBox="1"/>
          <p:nvPr/>
        </p:nvSpPr>
        <p:spPr>
          <a:xfrm>
            <a:off x="640080" y="137160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Dice (zero-shot → fine-tuned)</a:t>
            </a:r>
            <a:endParaRPr lang="en-US" sz="1200" dirty="0"/>
          </a:p>
        </p:txBody>
      </p:sp>
      <p:sp>
        <p:nvSpPr>
          <p:cNvPr id="6" name="Text 3"/>
          <p:cNvSpPr txBox="1"/>
          <p:nvPr/>
        </p:nvSpPr>
        <p:spPr>
          <a:xfrm>
            <a:off x="640080" y="1664208"/>
            <a:ext cx="3017520" cy="457200"/>
          </a:xfrm>
          <a:prstGeom prst="rect">
            <a:avLst/>
          </a:prstGeom>
          <a:noFill/>
          <a:ln/>
        </p:spPr>
        <p:txBody>
          <a:bodyPr wrap="square" lIns="0" tIns="0" rIns="0" bIns="0" rtlCol="0" anchor="t"/>
          <a:lstStyle/>
          <a:p>
            <a:pPr indent="0" marL="0">
              <a:buNone/>
            </a:pPr>
            <a:r>
              <a:rPr lang="en-US" sz="2600" dirty="0">
                <a:solidFill>
                  <a:schemeClr val="accent5"/>
                </a:solidFill>
              </a:rPr>
              <a:t>0.6982</a:t>
            </a:r>
            <a:pPr indent="0" marL="0">
              <a:buNone/>
            </a:pPr>
            <a:r>
              <a:rPr lang="en-US" sz="2600" dirty="0">
                <a:solidFill>
                  <a:schemeClr val="accent5"/>
                </a:solidFill>
              </a:rPr>
              <a:t>  →  </a:t>
            </a:r>
            <a:pPr indent="0" marL="0">
              <a:buNone/>
            </a:pPr>
            <a:r>
              <a:rPr lang="en-US" sz="2600" b="1" dirty="0">
                <a:solidFill>
                  <a:schemeClr val="accent1"/>
                </a:solidFill>
              </a:rPr>
              <a:t>0.8107</a:t>
            </a:r>
            <a:endParaRPr lang="en-US" sz="2600" dirty="0"/>
          </a:p>
        </p:txBody>
      </p:sp>
      <p:sp>
        <p:nvSpPr>
          <p:cNvPr id="7" name="Text 4"/>
          <p:cNvSpPr txBox="1"/>
          <p:nvPr/>
        </p:nvSpPr>
        <p:spPr>
          <a:xfrm>
            <a:off x="640080" y="210312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+11.3 Dice points</a:t>
            </a:r>
            <a:endParaRPr lang="en-US" sz="1400" dirty="0"/>
          </a:p>
        </p:txBody>
      </p:sp>
      <p:sp>
        <p:nvSpPr>
          <p:cNvPr id="8" name="metric card IoU"/>
          <p:cNvSpPr/>
          <p:nvPr/>
        </p:nvSpPr>
        <p:spPr>
          <a:xfrm>
            <a:off x="457200" y="2560320"/>
            <a:ext cx="3291840" cy="1143000"/>
          </a:xfrm>
          <a:prstGeom prst="roundRect">
            <a:avLst>
              <a:gd name="adj" fmla="val 9600"/>
            </a:avLst>
          </a:prstGeom>
          <a:solidFill>
            <a:schemeClr val="bg2"/>
          </a:solidFill>
          <a:ln w="12700">
            <a:solidFill>
              <a:schemeClr val="bg2"/>
            </a:solidFill>
            <a:prstDash val="solid"/>
          </a:ln>
        </p:spPr>
      </p:sp>
      <p:sp>
        <p:nvSpPr>
          <p:cNvPr id="9" name="Text 6"/>
          <p:cNvSpPr txBox="1"/>
          <p:nvPr/>
        </p:nvSpPr>
        <p:spPr>
          <a:xfrm>
            <a:off x="640080" y="265176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IoU (zero-shot → fine-tuned)</a:t>
            </a:r>
            <a:endParaRPr lang="en-US" sz="1200" dirty="0"/>
          </a:p>
        </p:txBody>
      </p:sp>
      <p:sp>
        <p:nvSpPr>
          <p:cNvPr id="10" name="Text 7"/>
          <p:cNvSpPr txBox="1"/>
          <p:nvPr/>
        </p:nvSpPr>
        <p:spPr>
          <a:xfrm>
            <a:off x="640080" y="2944368"/>
            <a:ext cx="3017520" cy="457200"/>
          </a:xfrm>
          <a:prstGeom prst="rect">
            <a:avLst/>
          </a:prstGeom>
          <a:noFill/>
          <a:ln/>
        </p:spPr>
        <p:txBody>
          <a:bodyPr wrap="square" lIns="0" tIns="0" rIns="0" bIns="0" rtlCol="0" anchor="t"/>
          <a:lstStyle/>
          <a:p>
            <a:pPr indent="0" marL="0">
              <a:buNone/>
            </a:pPr>
            <a:r>
              <a:rPr lang="en-US" sz="2600" dirty="0">
                <a:solidFill>
                  <a:schemeClr val="accent5"/>
                </a:solidFill>
              </a:rPr>
              <a:t>0.5488</a:t>
            </a:r>
            <a:pPr indent="0" marL="0">
              <a:buNone/>
            </a:pPr>
            <a:r>
              <a:rPr lang="en-US" sz="2600" dirty="0">
                <a:solidFill>
                  <a:schemeClr val="accent5"/>
                </a:solidFill>
              </a:rPr>
              <a:t>  →  </a:t>
            </a:r>
            <a:pPr indent="0" marL="0">
              <a:buNone/>
            </a:pPr>
            <a:r>
              <a:rPr lang="en-US" sz="2600" b="1" dirty="0">
                <a:solidFill>
                  <a:schemeClr val="accent1"/>
                </a:solidFill>
              </a:rPr>
              <a:t>0.6899</a:t>
            </a:r>
            <a:endParaRPr lang="en-US" sz="2600" dirty="0"/>
          </a:p>
        </p:txBody>
      </p:sp>
      <p:sp>
        <p:nvSpPr>
          <p:cNvPr id="11" name="Text 8"/>
          <p:cNvSpPr txBox="1"/>
          <p:nvPr/>
        </p:nvSpPr>
        <p:spPr>
          <a:xfrm>
            <a:off x="640080" y="3383280"/>
            <a:ext cx="2926080" cy="274320"/>
          </a:xfrm>
          <a:prstGeom prst="rect">
            <a:avLst/>
          </a:prstGeom>
          <a:noFill/>
          <a:ln/>
        </p:spPr>
        <p:txBody>
          <a:bodyPr wrap="square" lIns="0" tIns="0" rIns="0" bIns="0" rtlCol="0" anchor="t"/>
          <a:lstStyle/>
          <a:p>
            <a:pPr indent="0" marL="0">
              <a:buNone/>
            </a:pPr>
            <a:r>
              <a:rPr lang="en-US" sz="1400" b="1" dirty="0">
                <a:solidFill>
                  <a:schemeClr val="accent2"/>
                </a:solidFill>
              </a:rPr>
              <a:t>+14.1 IoU points</a:t>
            </a:r>
            <a:endParaRPr lang="en-US" sz="1400" dirty="0"/>
          </a:p>
        </p:txBody>
      </p:sp>
      <p:pic>
        <p:nvPicPr>
          <p:cNvPr id="12" name="Image 0" descr="Qualitative results">    </p:cNvPr>
          <p:cNvPicPr>
            <a:picLocks noChangeAspect="1"/>
          </p:cNvPicPr>
          <p:nvPr/>
        </p:nvPicPr>
        <p:blipFill>
          <a:blip r:embed="rId1"/>
          <a:stretch>
            <a:fillRect/>
          </a:stretch>
        </p:blipFill>
        <p:spPr>
          <a:xfrm>
            <a:off x="3840480" y="1280160"/>
            <a:ext cx="4754880" cy="2611932"/>
          </a:xfrm>
          <a:prstGeom prst="rect">
            <a:avLst/>
          </a:prstGeom>
        </p:spPr>
      </p:pic>
      <p:sp>
        <p:nvSpPr>
          <p:cNvPr id="13" name="Text 9"/>
          <p:cNvSpPr txBox="1"/>
          <p:nvPr/>
        </p:nvSpPr>
        <p:spPr>
          <a:xfrm>
            <a:off x="3840480" y="3946956"/>
            <a:ext cx="4754880" cy="274320"/>
          </a:xfrm>
          <a:prstGeom prst="rect">
            <a:avLst/>
          </a:prstGeom>
          <a:noFill/>
          <a:ln/>
        </p:spPr>
        <p:txBody>
          <a:bodyPr wrap="square" lIns="0" tIns="0" rIns="0" bIns="0" rtlCol="0" anchor="t"/>
          <a:lstStyle/>
          <a:p>
            <a:pPr indent="0" marL="0">
              <a:buNone/>
            </a:pPr>
            <a:r>
              <a:rPr lang="en-US" sz="1100" i="1" dirty="0">
                <a:solidFill>
                  <a:schemeClr val="accent5"/>
                </a:solidFill>
              </a:rPr>
              <a:t>Input · Ground truth · Zero-shot · Fine-tuned (including failure cases)</a:t>
            </a:r>
            <a:endParaRPr lang="en-US" sz="1100" dirty="0"/>
          </a:p>
        </p:txBody>
      </p:sp>
      <p:sp>
        <p:nvSpPr>
          <p:cNvPr id="14" name="Text 10"/>
          <p:cNvSpPr txBox="1"/>
          <p:nvPr/>
        </p:nvSpPr>
        <p:spPr>
          <a:xfrm>
            <a:off x="457200" y="4315968"/>
            <a:ext cx="8229600" cy="411480"/>
          </a:xfrm>
          <a:prstGeom prst="rect">
            <a:avLst/>
          </a:prstGeom>
          <a:noFill/>
          <a:ln/>
        </p:spPr>
        <p:txBody>
          <a:bodyPr wrap="square" lIns="0" tIns="0" rIns="0" bIns="0" rtlCol="0" anchor="t"/>
          <a:lstStyle/>
          <a:p>
            <a:pPr indent="0" marL="0">
              <a:buNone/>
            </a:pPr>
            <a:r>
              <a:rPr lang="en-US" sz="1400" dirty="0">
                <a:solidFill>
                  <a:schemeClr val="tx1"/>
                </a:solidFill>
              </a:rPr>
              <a:t>Largest gain, lowest final score; fragmented tumour regions are still missed. 16 validation slices.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Cross-modality comparison</a:t>
            </a:r>
            <a:endParaRPr lang="en-US" sz="3000" dirty="0"/>
          </a:p>
        </p:txBody>
      </p:sp>
      <p:pic>
        <p:nvPicPr>
          <p:cNvPr id="4" name="Image 0" descr="Dice and IoU comparison chart">    </p:cNvPr>
          <p:cNvPicPr>
            <a:picLocks noChangeAspect="1"/>
          </p:cNvPicPr>
          <p:nvPr/>
        </p:nvPicPr>
        <p:blipFill>
          <a:blip r:embed="rId1"/>
          <a:stretch>
            <a:fillRect/>
          </a:stretch>
        </p:blipFill>
        <p:spPr>
          <a:xfrm>
            <a:off x="457200" y="1280160"/>
            <a:ext cx="4572000" cy="1884172"/>
          </a:xfrm>
          <a:prstGeom prst="rect">
            <a:avLst/>
          </a:prstGeom>
        </p:spPr>
      </p:pic>
      <p:sp>
        <p:nvSpPr>
          <p:cNvPr id="5" name="Text 1"/>
          <p:cNvSpPr txBox="1"/>
          <p:nvPr/>
        </p:nvSpPr>
        <p:spPr>
          <a:xfrm>
            <a:off x="457200" y="3237484"/>
            <a:ext cx="4572000" cy="274320"/>
          </a:xfrm>
          <a:prstGeom prst="rect">
            <a:avLst/>
          </a:prstGeom>
          <a:noFill/>
          <a:ln/>
        </p:spPr>
        <p:txBody>
          <a:bodyPr wrap="square" lIns="0" tIns="0" rIns="0" bIns="0" rtlCol="0" anchor="t"/>
          <a:lstStyle/>
          <a:p>
            <a:pPr indent="0" marL="0">
              <a:buNone/>
            </a:pPr>
            <a:r>
              <a:rPr lang="en-US" sz="1100" i="1" dirty="0">
                <a:solidFill>
                  <a:schemeClr val="accent5"/>
                </a:solidFill>
              </a:rPr>
              <a:t>Output of the comparison notebook: Dice (left), IoU (right).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257800" y="1280160"/>
          <a:ext cx="3429000" cy="914400"/>
        </p:xfrm>
        <a:graphic>
          <a:graphicData uri="http://schemas.openxmlformats.org/drawingml/2006/table">
            <a:tbl>
              <a:tblPr/>
              <a:tblGrid>
                <a:gridCol w="1005840"/>
                <a:gridCol w="822960"/>
                <a:gridCol w="777240"/>
                <a:gridCol w="822960"/>
              </a:tblGrid>
              <a:tr h="594360">
                <a:tc>
                  <a:txBody>
                    <a:bodyPr/>
                    <a:lstStyle/>
                    <a:p>
                      <a:pPr algn="ctr" indent="0" marL="0">
                        <a:buNone/>
                      </a:pPr>
                      <a:r>
                        <a:rPr lang="en-US" sz="1200" b="1" dirty="0">
                          <a:solidFill>
                            <a:srgbClr val="FFFFFF"/>
                          </a:solidFill>
                        </a:rPr>
                        <a:t>Modality</a:t>
                      </a:r>
                      <a:endParaRPr lang="en-US" sz="12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rPr>
                        <a:t>Dice zero-shot</a:t>
                      </a:r>
                      <a:endParaRPr lang="en-US" sz="12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rPr>
                        <a:t>Dice tuned</a:t>
                      </a:r>
                      <a:endParaRPr lang="en-US" sz="12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rPr>
                        <a:t>IoU tuned</a:t>
                      </a:r>
                      <a:endParaRPr lang="en-US" sz="12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solidFill>
                      <a:srgbClr val="0E7C86"/>
                    </a:solidFill>
                  </a:tcPr>
                </a:tc>
              </a:tr>
              <a:tr h="457200">
                <a:tc>
                  <a:txBody>
                    <a:bodyPr/>
                    <a:lstStyle/>
                    <a:p>
                      <a:pPr algn="l" indent="0" marL="0">
                        <a:buNone/>
                      </a:pPr>
                      <a:r>
                        <a:rPr lang="en-US" sz="1300" b="1" dirty="0">
                          <a:solidFill>
                            <a:srgbClr val="1B2A33"/>
                          </a:solidFill>
                        </a:rPr>
                        <a:t>Skin lesion</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dirty="0">
                          <a:solidFill>
                            <a:srgbClr val="1B2A33"/>
                          </a:solidFill>
                        </a:rPr>
                        <a:t>0.8655</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b="1" dirty="0">
                          <a:solidFill>
                            <a:srgbClr val="0E7C86"/>
                          </a:solidFill>
                        </a:rPr>
                        <a:t>0.9344</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dirty="0">
                          <a:solidFill>
                            <a:srgbClr val="1B2A33"/>
                          </a:solidFill>
                        </a:rPr>
                        <a:t>0.8794</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r>
              <a:tr h="457200">
                <a:tc>
                  <a:txBody>
                    <a:bodyPr/>
                    <a:lstStyle/>
                    <a:p>
                      <a:pPr algn="l" indent="0" marL="0">
                        <a:buNone/>
                      </a:pPr>
                      <a:r>
                        <a:rPr lang="en-US" sz="1300" b="1" dirty="0">
                          <a:solidFill>
                            <a:srgbClr val="1B2A33"/>
                          </a:solidFill>
                        </a:rPr>
                        <a:t>Chest X-ray</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dirty="0">
                          <a:solidFill>
                            <a:srgbClr val="1B2A33"/>
                          </a:solidFill>
                        </a:rPr>
                        <a:t>0.8741</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b="1" dirty="0">
                          <a:solidFill>
                            <a:srgbClr val="0E7C86"/>
                          </a:solidFill>
                        </a:rPr>
                        <a:t>0.9607</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dirty="0">
                          <a:solidFill>
                            <a:srgbClr val="1B2A33"/>
                          </a:solidFill>
                        </a:rPr>
                        <a:t>0.9253</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r>
              <a:tr h="457200">
                <a:tc>
                  <a:txBody>
                    <a:bodyPr/>
                    <a:lstStyle/>
                    <a:p>
                      <a:pPr algn="l" indent="0" marL="0">
                        <a:buNone/>
                      </a:pPr>
                      <a:r>
                        <a:rPr lang="en-US" sz="1300" b="1" dirty="0">
                          <a:solidFill>
                            <a:srgbClr val="1B2A33"/>
                          </a:solidFill>
                        </a:rPr>
                        <a:t>MRI slices</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dirty="0">
                          <a:solidFill>
                            <a:srgbClr val="1B2A33"/>
                          </a:solidFill>
                        </a:rPr>
                        <a:t>0.6982</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b="1" dirty="0">
                          <a:solidFill>
                            <a:srgbClr val="0E7C86"/>
                          </a:solidFill>
                        </a:rPr>
                        <a:t>0.8107</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c>
                  <a:txBody>
                    <a:bodyPr/>
                    <a:lstStyle/>
                    <a:p>
                      <a:pPr algn="ctr" indent="0" marL="0">
                        <a:buNone/>
                      </a:pPr>
                      <a:r>
                        <a:rPr lang="en-US" sz="1300" dirty="0">
                          <a:solidFill>
                            <a:srgbClr val="1B2A33"/>
                          </a:solidFill>
                        </a:rPr>
                        <a:t>0.6899</a:t>
                      </a:r>
                      <a:endParaRPr lang="en-US" sz="1300" dirty="0"/>
                    </a:p>
                  </a:txBody>
                  <a:tcPr marL="54864" marR="54864" marT="0" marB="0" anchor="ctr">
                    <a:lnL w="9525" cap="flat" cmpd="sng" algn="ctr">
                      <a:solidFill>
                        <a:srgbClr val="C5D3D9"/>
                      </a:solidFill>
                      <a:prstDash val="solid"/>
                      <a:round/>
                      <a:headEnd type="none" w="med" len="med"/>
                      <a:tailEnd type="none" w="med" len="med"/>
                    </a:lnL>
                    <a:lnR w="9525" cap="flat" cmpd="sng" algn="ctr">
                      <a:solidFill>
                        <a:srgbClr val="C5D3D9"/>
                      </a:solidFill>
                      <a:prstDash val="solid"/>
                      <a:round/>
                      <a:headEnd type="none" w="med" len="med"/>
                      <a:tailEnd type="none" w="med" len="med"/>
                    </a:lnR>
                    <a:lnT w="9525" cap="flat" cmpd="sng" algn="ctr">
                      <a:solidFill>
                        <a:srgbClr val="C5D3D9"/>
                      </a:solidFill>
                      <a:prstDash val="solid"/>
                      <a:round/>
                      <a:headEnd type="none" w="med" len="med"/>
                      <a:tailEnd type="none" w="med" len="med"/>
                    </a:lnT>
                    <a:lnB w="9525" cap="flat" cmpd="sng" algn="ctr">
                      <a:solidFill>
                        <a:srgbClr val="C5D3D9"/>
                      </a:solidFill>
                      <a:prstDash val="solid"/>
                      <a:round/>
                      <a:headEnd type="none" w="med" len="med"/>
                      <a:tailEnd type="none" w="med" len="med"/>
                    </a:lnB>
                  </a:tcPr>
                </a:tc>
              </a:tr>
            </a:tbl>
          </a:graphicData>
        </a:graphic>
      </p:graphicFrame>
      <p:sp>
        <p:nvSpPr>
          <p:cNvPr id="7" name="ranking banner"/>
          <p:cNvSpPr/>
          <p:nvPr/>
        </p:nvSpPr>
        <p:spPr>
          <a:xfrm>
            <a:off x="457200" y="3794760"/>
            <a:ext cx="8229600" cy="822960"/>
          </a:xfrm>
          <a:prstGeom prst="roundRect">
            <a:avLst>
              <a:gd name="adj" fmla="val 13333"/>
            </a:avLst>
          </a:prstGeom>
          <a:solidFill>
            <a:schemeClr val="tx2"/>
          </a:solidFill>
          <a:ln w="12700">
            <a:solidFill>
              <a:schemeClr val="tx2"/>
            </a:solidFill>
            <a:prstDash val="solid"/>
          </a:ln>
        </p:spPr>
      </p:sp>
      <p:sp>
        <p:nvSpPr>
          <p:cNvPr id="8" name="Text 3"/>
          <p:cNvSpPr txBox="1"/>
          <p:nvPr/>
        </p:nvSpPr>
        <p:spPr>
          <a:xfrm>
            <a:off x="685800" y="3840480"/>
            <a:ext cx="7772400" cy="731520"/>
          </a:xfrm>
          <a:prstGeom prst="rect">
            <a:avLst/>
          </a:prstGeom>
          <a:noFill/>
          <a:ln/>
        </p:spPr>
        <p:txBody>
          <a:bodyPr wrap="square" lIns="0" tIns="0" rIns="0" bIns="0" rtlCol="0" anchor="ctr"/>
          <a:lstStyle/>
          <a:p>
            <a:pPr indent="0" marL="0">
              <a:buNone/>
            </a:pPr>
            <a:r>
              <a:rPr lang="en-US" sz="1500" dirty="0">
                <a:solidFill>
                  <a:schemeClr val="bg1"/>
                </a:solidFill>
              </a:rPr>
              <a:t>X-ray &gt; skin &gt; MRI. MRI gains the most (+11.3 Dice points) yet stays lowest: it sits furthest from natural-image pretraining.</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Efficiency: 62× fewer parameters</a:t>
            </a:r>
            <a:endParaRPr lang="en-US" sz="3000" dirty="0"/>
          </a:p>
        </p:txBody>
      </p:sp>
      <p:graphicFrame>
        <p:nvGraphicFramePr>
          <p:cNvPr id="4" name="Chart 0" descr=""/>
          <p:cNvGraphicFramePr/>
          <p:nvPr/>
        </p:nvGraphicFramePr>
        <p:xfrm>
          <a:off x="457200" y="1234440"/>
          <a:ext cx="4023360" cy="2788920"/>
        </p:xfrm>
        <a:graphic xmlns:a="http://schemas.openxmlformats.org/drawingml/2006/main">
          <a:graphicData uri="http://schemas.openxmlformats.org/drawingml/2006/chart">
            <c:chart xmlns:c="http://schemas.openxmlformats.org/drawingml/2006/chart" r:id="rId1"/>
          </a:graphicData>
        </a:graphic>
      </p:graphicFrame>
      <p:pic>
        <p:nvPicPr>
          <p:cNvPr id="5" name="Image 0" descr="Inference speed chart">    </p:cNvPr>
          <p:cNvPicPr>
            <a:picLocks noChangeAspect="1"/>
          </p:cNvPicPr>
          <p:nvPr/>
        </p:nvPicPr>
        <p:blipFill>
          <a:blip r:embed="rId2"/>
          <a:stretch>
            <a:fillRect/>
          </a:stretch>
        </p:blipFill>
        <p:spPr>
          <a:xfrm>
            <a:off x="4937760" y="1280160"/>
            <a:ext cx="3017520" cy="1994632"/>
          </a:xfrm>
          <a:prstGeom prst="rect">
            <a:avLst/>
          </a:prstGeom>
        </p:spPr>
      </p:pic>
      <p:sp>
        <p:nvSpPr>
          <p:cNvPr id="6" name="Text 1"/>
          <p:cNvSpPr txBox="1"/>
          <p:nvPr/>
        </p:nvSpPr>
        <p:spPr>
          <a:xfrm>
            <a:off x="4937760" y="3320512"/>
            <a:ext cx="3749040" cy="274320"/>
          </a:xfrm>
          <a:prstGeom prst="rect">
            <a:avLst/>
          </a:prstGeom>
          <a:noFill/>
          <a:ln/>
        </p:spPr>
        <p:txBody>
          <a:bodyPr wrap="square" lIns="0" tIns="0" rIns="0" bIns="0" rtlCol="0" anchor="t"/>
          <a:lstStyle/>
          <a:p>
            <a:pPr indent="0" marL="0">
              <a:buNone/>
            </a:pPr>
            <a:r>
              <a:rPr lang="en-US" sz="1100" i="1" dirty="0">
                <a:solidFill>
                  <a:schemeClr val="accent5"/>
                </a:solidFill>
              </a:rPr>
              <a:t>Inference speed per modality (ms/image, Tesla T4).</a:t>
            </a:r>
            <a:endParaRPr lang="en-US" sz="1100" dirty="0"/>
          </a:p>
        </p:txBody>
      </p:sp>
      <p:sp>
        <p:nvSpPr>
          <p:cNvPr id="7" name="Text 2"/>
          <p:cNvSpPr txBox="1"/>
          <p:nvPr/>
        </p:nvSpPr>
        <p:spPr>
          <a:xfrm>
            <a:off x="4937760" y="3640552"/>
            <a:ext cx="3749040" cy="320040"/>
          </a:xfrm>
          <a:prstGeom prst="rect">
            <a:avLst/>
          </a:prstGeom>
          <a:noFill/>
          <a:ln/>
        </p:spPr>
        <p:txBody>
          <a:bodyPr wrap="square" lIns="0" tIns="0" rIns="0" bIns="0" rtlCol="0" anchor="t"/>
          <a:lstStyle/>
          <a:p>
            <a:pPr indent="0" marL="0">
              <a:buNone/>
            </a:pPr>
            <a:r>
              <a:rPr lang="en-US" sz="1400" b="1" dirty="0">
                <a:solidFill>
                  <a:schemeClr val="accent1"/>
                </a:solidFill>
              </a:rPr>
              <a:t>≈ 6.9 images/s · 145.85 ms/image (skin)</a:t>
            </a:r>
            <a:endParaRPr lang="en-US" sz="1400" dirty="0"/>
          </a:p>
        </p:txBody>
      </p:sp>
      <p:sp>
        <p:nvSpPr>
          <p:cNvPr id="8" name="efficiency banner"/>
          <p:cNvSpPr/>
          <p:nvPr/>
        </p:nvSpPr>
        <p:spPr>
          <a:xfrm>
            <a:off x="457200" y="4114800"/>
            <a:ext cx="8229600" cy="548640"/>
          </a:xfrm>
          <a:prstGeom prst="roundRect">
            <a:avLst>
              <a:gd name="adj" fmla="val 20000"/>
            </a:avLst>
          </a:prstGeom>
          <a:solidFill>
            <a:schemeClr val="tx2"/>
          </a:solidFill>
          <a:ln w="12700">
            <a:solidFill>
              <a:schemeClr val="tx2"/>
            </a:solidFill>
            <a:prstDash val="solid"/>
          </a:ln>
        </p:spPr>
      </p:sp>
      <p:sp>
        <p:nvSpPr>
          <p:cNvPr id="9" name="Text 4"/>
          <p:cNvSpPr txBox="1"/>
          <p:nvPr/>
        </p:nvSpPr>
        <p:spPr>
          <a:xfrm>
            <a:off x="685800" y="4114800"/>
            <a:ext cx="7772400" cy="548640"/>
          </a:xfrm>
          <a:prstGeom prst="rect">
            <a:avLst/>
          </a:prstGeom>
          <a:noFill/>
          <a:ln/>
        </p:spPr>
        <p:txBody>
          <a:bodyPr wrap="square" lIns="0" tIns="0" rIns="0" bIns="0" rtlCol="0" anchor="ctr"/>
          <a:lstStyle/>
          <a:p>
            <a:pPr indent="0" marL="0">
              <a:buNone/>
            </a:pPr>
            <a:r>
              <a:rPr lang="en-US" sz="1500" b="1" dirty="0">
                <a:solidFill>
                  <a:schemeClr val="bg1"/>
                </a:solidFill>
              </a:rPr>
              <a:t>61.8× fewer parameters than SAM ViT-H · only 39.7% of them trained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GUI: upload, segment, measure</a:t>
            </a:r>
            <a:endParaRPr lang="en-US" sz="3000" dirty="0"/>
          </a:p>
        </p:txBody>
      </p:sp>
      <p:pic>
        <p:nvPicPr>
          <p:cNvPr id="4" name="Image 0" descr="Input and predicted lesion overlay">    </p:cNvPr>
          <p:cNvPicPr>
            <a:picLocks noChangeAspect="1"/>
          </p:cNvPicPr>
          <p:nvPr/>
        </p:nvPicPr>
        <p:blipFill>
          <a:blip r:embed="rId1"/>
          <a:stretch>
            <a:fillRect/>
          </a:stretch>
        </p:blipFill>
        <p:spPr>
          <a:xfrm>
            <a:off x="457200" y="1325880"/>
            <a:ext cx="4480560" cy="2150154"/>
          </a:xfrm>
          <a:prstGeom prst="rect">
            <a:avLst/>
          </a:prstGeom>
        </p:spPr>
      </p:pic>
      <p:sp>
        <p:nvSpPr>
          <p:cNvPr id="5" name="Text 1"/>
          <p:cNvSpPr txBox="1"/>
          <p:nvPr/>
        </p:nvSpPr>
        <p:spPr>
          <a:xfrm>
            <a:off x="457200" y="3549186"/>
            <a:ext cx="4480560" cy="274320"/>
          </a:xfrm>
          <a:prstGeom prst="rect">
            <a:avLst/>
          </a:prstGeom>
          <a:noFill/>
          <a:ln/>
        </p:spPr>
        <p:txBody>
          <a:bodyPr wrap="square" lIns="0" tIns="0" rIns="0" bIns="0" rtlCol="0" anchor="t"/>
          <a:lstStyle/>
          <a:p>
            <a:pPr indent="0" marL="0">
              <a:buNone/>
            </a:pPr>
            <a:r>
              <a:rPr lang="en-US" sz="1100" i="1" dirty="0">
                <a:solidFill>
                  <a:schemeClr val="accent5"/>
                </a:solidFill>
              </a:rPr>
              <a:t>Input → red lesion overlay (rendered from the evaluation notebook).</a:t>
            </a:r>
            <a:endParaRPr lang="en-US" sz="1100" dirty="0"/>
          </a:p>
        </p:txBody>
      </p:sp>
      <p:sp>
        <p:nvSpPr>
          <p:cNvPr id="6" name="Text 2"/>
          <p:cNvSpPr txBox="1"/>
          <p:nvPr/>
        </p:nvSpPr>
        <p:spPr>
          <a:xfrm>
            <a:off x="457200" y="3933234"/>
            <a:ext cx="4480560" cy="640080"/>
          </a:xfrm>
          <a:prstGeom prst="rect">
            <a:avLst/>
          </a:prstGeom>
          <a:noFill/>
          <a:ln/>
        </p:spPr>
        <p:txBody>
          <a:bodyPr wrap="square" lIns="0" tIns="0" rIns="0" bIns="0" rtlCol="0" anchor="t"/>
          <a:lstStyle/>
          <a:p>
            <a:pPr indent="0" marL="0">
              <a:buNone/>
            </a:pPr>
            <a:r>
              <a:rPr lang="en-US" sz="1400" dirty="0">
                <a:solidFill>
                  <a:schemeClr val="tx1"/>
                </a:solidFill>
              </a:rPr>
              <a:t>Prompt in the GUI: a point at the image centre, since no ground truth exists at inference.</a:t>
            </a:r>
            <a:endParaRPr lang="en-US" sz="1400" dirty="0"/>
          </a:p>
        </p:txBody>
      </p:sp>
      <p:sp>
        <p:nvSpPr>
          <p:cNvPr id="7" name="gui output 1"/>
          <p:cNvSpPr/>
          <p:nvPr/>
        </p:nvSpPr>
        <p:spPr>
          <a:xfrm>
            <a:off x="5212080" y="1325880"/>
            <a:ext cx="3474720" cy="713232"/>
          </a:xfrm>
          <a:prstGeom prst="roundRect">
            <a:avLst>
              <a:gd name="adj" fmla="val 15385"/>
            </a:avLst>
          </a:prstGeom>
          <a:solidFill>
            <a:schemeClr val="bg2"/>
          </a:solidFill>
          <a:ln w="12700">
            <a:solidFill>
              <a:schemeClr val="bg2"/>
            </a:solidFill>
            <a:prstDash val="solid"/>
          </a:ln>
        </p:spPr>
      </p:sp>
      <p:sp>
        <p:nvSpPr>
          <p:cNvPr id="8" name="badge 1"/>
          <p:cNvSpPr/>
          <p:nvPr/>
        </p:nvSpPr>
        <p:spPr>
          <a:xfrm>
            <a:off x="5349240" y="1481328"/>
            <a:ext cx="402336" cy="402336"/>
          </a:xfrm>
          <a:prstGeom prst="ellipse">
            <a:avLst/>
          </a:prstGeom>
          <a:solidFill>
            <a:schemeClr val="accent1"/>
          </a:solidFill>
          <a:ln w="12700">
            <a:solidFill>
              <a:schemeClr val="accent1"/>
            </a:solidFill>
            <a:prstDash val="solid"/>
          </a:ln>
        </p:spPr>
      </p:sp>
      <p:sp>
        <p:nvSpPr>
          <p:cNvPr id="9" name="Text 5"/>
          <p:cNvSpPr txBox="1"/>
          <p:nvPr/>
        </p:nvSpPr>
        <p:spPr>
          <a:xfrm>
            <a:off x="5349240" y="148132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6"/>
          <p:cNvSpPr txBox="1"/>
          <p:nvPr/>
        </p:nvSpPr>
        <p:spPr>
          <a:xfrm>
            <a:off x="5897880" y="1362456"/>
            <a:ext cx="2697480" cy="640080"/>
          </a:xfrm>
          <a:prstGeom prst="rect">
            <a:avLst/>
          </a:prstGeom>
          <a:noFill/>
          <a:ln/>
        </p:spPr>
        <p:txBody>
          <a:bodyPr wrap="square" lIns="0" tIns="0" rIns="0" bIns="0" rtlCol="0" anchor="ctr"/>
          <a:lstStyle/>
          <a:p>
            <a:pPr indent="0" marL="0">
              <a:buNone/>
            </a:pPr>
            <a:r>
              <a:rPr lang="en-US" sz="1300" dirty="0">
                <a:solidFill>
                  <a:schemeClr val="tx1"/>
                </a:solidFill>
              </a:rPr>
              <a:t>Boundary overlay (red)</a:t>
            </a:r>
            <a:endParaRPr lang="en-US" sz="1300" dirty="0"/>
          </a:p>
        </p:txBody>
      </p:sp>
      <p:sp>
        <p:nvSpPr>
          <p:cNvPr id="11" name="gui output 2"/>
          <p:cNvSpPr/>
          <p:nvPr/>
        </p:nvSpPr>
        <p:spPr>
          <a:xfrm>
            <a:off x="5212080" y="2148840"/>
            <a:ext cx="3474720" cy="713232"/>
          </a:xfrm>
          <a:prstGeom prst="roundRect">
            <a:avLst>
              <a:gd name="adj" fmla="val 15385"/>
            </a:avLst>
          </a:prstGeom>
          <a:solidFill>
            <a:schemeClr val="bg2"/>
          </a:solidFill>
          <a:ln w="12700">
            <a:solidFill>
              <a:schemeClr val="bg2"/>
            </a:solidFill>
            <a:prstDash val="solid"/>
          </a:ln>
        </p:spPr>
      </p:sp>
      <p:sp>
        <p:nvSpPr>
          <p:cNvPr id="12" name="badge 2"/>
          <p:cNvSpPr/>
          <p:nvPr/>
        </p:nvSpPr>
        <p:spPr>
          <a:xfrm>
            <a:off x="5349240" y="2304288"/>
            <a:ext cx="402336" cy="402336"/>
          </a:xfrm>
          <a:prstGeom prst="ellipse">
            <a:avLst/>
          </a:prstGeom>
          <a:solidFill>
            <a:schemeClr val="accent1"/>
          </a:solidFill>
          <a:ln w="12700">
            <a:solidFill>
              <a:schemeClr val="accent1"/>
            </a:solidFill>
            <a:prstDash val="solid"/>
          </a:ln>
        </p:spPr>
      </p:sp>
      <p:sp>
        <p:nvSpPr>
          <p:cNvPr id="13" name="Text 9"/>
          <p:cNvSpPr txBox="1"/>
          <p:nvPr/>
        </p:nvSpPr>
        <p:spPr>
          <a:xfrm>
            <a:off x="5349240" y="230428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0"/>
          <p:cNvSpPr txBox="1"/>
          <p:nvPr/>
        </p:nvSpPr>
        <p:spPr>
          <a:xfrm>
            <a:off x="5897880" y="2185416"/>
            <a:ext cx="2697480" cy="640080"/>
          </a:xfrm>
          <a:prstGeom prst="rect">
            <a:avLst/>
          </a:prstGeom>
          <a:noFill/>
          <a:ln/>
        </p:spPr>
        <p:txBody>
          <a:bodyPr wrap="square" lIns="0" tIns="0" rIns="0" bIns="0" rtlCol="0" anchor="ctr"/>
          <a:lstStyle/>
          <a:p>
            <a:pPr indent="0" marL="0">
              <a:buNone/>
            </a:pPr>
            <a:r>
              <a:rPr lang="en-US" sz="1300" dirty="0">
                <a:solidFill>
                  <a:schemeClr val="tx1"/>
                </a:solidFill>
              </a:rPr>
              <a:t>Cropped lesion patch</a:t>
            </a:r>
            <a:endParaRPr lang="en-US" sz="1300" dirty="0"/>
          </a:p>
        </p:txBody>
      </p:sp>
      <p:sp>
        <p:nvSpPr>
          <p:cNvPr id="15" name="gui output 3"/>
          <p:cNvSpPr/>
          <p:nvPr/>
        </p:nvSpPr>
        <p:spPr>
          <a:xfrm>
            <a:off x="5212080" y="2971800"/>
            <a:ext cx="3474720" cy="713232"/>
          </a:xfrm>
          <a:prstGeom prst="roundRect">
            <a:avLst>
              <a:gd name="adj" fmla="val 15385"/>
            </a:avLst>
          </a:prstGeom>
          <a:solidFill>
            <a:schemeClr val="bg2"/>
          </a:solidFill>
          <a:ln w="12700">
            <a:solidFill>
              <a:schemeClr val="bg2"/>
            </a:solidFill>
            <a:prstDash val="solid"/>
          </a:ln>
        </p:spPr>
      </p:sp>
      <p:sp>
        <p:nvSpPr>
          <p:cNvPr id="16" name="badge 3"/>
          <p:cNvSpPr/>
          <p:nvPr/>
        </p:nvSpPr>
        <p:spPr>
          <a:xfrm>
            <a:off x="5349240" y="3127248"/>
            <a:ext cx="402336" cy="402336"/>
          </a:xfrm>
          <a:prstGeom prst="ellipse">
            <a:avLst/>
          </a:prstGeom>
          <a:solidFill>
            <a:schemeClr val="accent1"/>
          </a:solidFill>
          <a:ln w="12700">
            <a:solidFill>
              <a:schemeClr val="accent1"/>
            </a:solidFill>
            <a:prstDash val="solid"/>
          </a:ln>
        </p:spPr>
      </p:sp>
      <p:sp>
        <p:nvSpPr>
          <p:cNvPr id="17" name="Text 13"/>
          <p:cNvSpPr txBox="1"/>
          <p:nvPr/>
        </p:nvSpPr>
        <p:spPr>
          <a:xfrm>
            <a:off x="5349240" y="312724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4"/>
          <p:cNvSpPr txBox="1"/>
          <p:nvPr/>
        </p:nvSpPr>
        <p:spPr>
          <a:xfrm>
            <a:off x="5897880" y="3008376"/>
            <a:ext cx="2697480" cy="640080"/>
          </a:xfrm>
          <a:prstGeom prst="rect">
            <a:avLst/>
          </a:prstGeom>
          <a:noFill/>
          <a:ln/>
        </p:spPr>
        <p:txBody>
          <a:bodyPr wrap="square" lIns="0" tIns="0" rIns="0" bIns="0" rtlCol="0" anchor="ctr"/>
          <a:lstStyle/>
          <a:p>
            <a:pPr indent="0" marL="0">
              <a:buNone/>
            </a:pPr>
            <a:r>
              <a:rPr lang="en-US" sz="1300" dirty="0">
                <a:solidFill>
                  <a:schemeClr val="tx1"/>
                </a:solidFill>
              </a:rPr>
              <a:t>Background removed (clean lesion)</a:t>
            </a:r>
            <a:endParaRPr lang="en-US" sz="1300" dirty="0"/>
          </a:p>
        </p:txBody>
      </p:sp>
      <p:sp>
        <p:nvSpPr>
          <p:cNvPr id="19" name="gui output 4"/>
          <p:cNvSpPr/>
          <p:nvPr/>
        </p:nvSpPr>
        <p:spPr>
          <a:xfrm>
            <a:off x="5212080" y="3794760"/>
            <a:ext cx="3474720" cy="713232"/>
          </a:xfrm>
          <a:prstGeom prst="roundRect">
            <a:avLst>
              <a:gd name="adj" fmla="val 15385"/>
            </a:avLst>
          </a:prstGeom>
          <a:solidFill>
            <a:schemeClr val="bg2"/>
          </a:solidFill>
          <a:ln w="12700">
            <a:solidFill>
              <a:schemeClr val="bg2"/>
            </a:solidFill>
            <a:prstDash val="solid"/>
          </a:ln>
        </p:spPr>
      </p:sp>
      <p:sp>
        <p:nvSpPr>
          <p:cNvPr id="20" name="badge 4"/>
          <p:cNvSpPr/>
          <p:nvPr/>
        </p:nvSpPr>
        <p:spPr>
          <a:xfrm>
            <a:off x="5349240" y="3950208"/>
            <a:ext cx="402336" cy="402336"/>
          </a:xfrm>
          <a:prstGeom prst="ellipse">
            <a:avLst/>
          </a:prstGeom>
          <a:solidFill>
            <a:schemeClr val="accent1"/>
          </a:solidFill>
          <a:ln w="12700">
            <a:solidFill>
              <a:schemeClr val="accent1"/>
            </a:solidFill>
            <a:prstDash val="solid"/>
          </a:ln>
        </p:spPr>
      </p:sp>
      <p:sp>
        <p:nvSpPr>
          <p:cNvPr id="21" name="Text 17"/>
          <p:cNvSpPr txBox="1"/>
          <p:nvPr/>
        </p:nvSpPr>
        <p:spPr>
          <a:xfrm>
            <a:off x="5349240" y="395020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8"/>
          <p:cNvSpPr txBox="1"/>
          <p:nvPr/>
        </p:nvSpPr>
        <p:spPr>
          <a:xfrm>
            <a:off x="5897880" y="3831336"/>
            <a:ext cx="2697480" cy="640080"/>
          </a:xfrm>
          <a:prstGeom prst="rect">
            <a:avLst/>
          </a:prstGeom>
          <a:noFill/>
          <a:ln/>
        </p:spPr>
        <p:txBody>
          <a:bodyPr wrap="square" lIns="0" tIns="0" rIns="0" bIns="0" rtlCol="0" anchor="ctr"/>
          <a:lstStyle/>
          <a:p>
            <a:pPr indent="0" marL="0">
              <a:buNone/>
            </a:pPr>
            <a:r>
              <a:rPr lang="en-US" sz="1300" dirty="0">
                <a:solidFill>
                  <a:schemeClr val="tx1"/>
                </a:solidFill>
              </a:rPr>
              <a:t>Metrics: area, perimeter, compactness, asymmetry, hue, IoU confidence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What the results tell us</a:t>
            </a:r>
            <a:endParaRPr lang="en-US" sz="3000" dirty="0"/>
          </a:p>
        </p:txBody>
      </p:sp>
      <p:sp>
        <p:nvSpPr>
          <p:cNvPr id="4" name="finding 1"/>
          <p:cNvSpPr/>
          <p:nvPr/>
        </p:nvSpPr>
        <p:spPr>
          <a:xfrm>
            <a:off x="457200" y="1280160"/>
            <a:ext cx="4023360" cy="1554480"/>
          </a:xfrm>
          <a:prstGeom prst="roundRect">
            <a:avLst>
              <a:gd name="adj" fmla="val 7059"/>
            </a:avLst>
          </a:prstGeom>
          <a:solidFill>
            <a:schemeClr val="bg2"/>
          </a:solidFill>
          <a:ln w="12700">
            <a:solidFill>
              <a:schemeClr val="bg2"/>
            </a:solidFill>
            <a:prstDash val="solid"/>
          </a:ln>
        </p:spPr>
      </p:sp>
      <p:sp>
        <p:nvSpPr>
          <p:cNvPr id="5" name="badge 1"/>
          <p:cNvSpPr/>
          <p:nvPr/>
        </p:nvSpPr>
        <p:spPr>
          <a:xfrm>
            <a:off x="640080" y="146304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640080" y="14630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188720" y="1463040"/>
            <a:ext cx="3108960" cy="384048"/>
          </a:xfrm>
          <a:prstGeom prst="rect">
            <a:avLst/>
          </a:prstGeom>
          <a:noFill/>
          <a:ln/>
        </p:spPr>
        <p:txBody>
          <a:bodyPr wrap="square" lIns="0" tIns="0" rIns="0" bIns="0" rtlCol="0" anchor="ctr"/>
          <a:lstStyle/>
          <a:p>
            <a:pPr indent="0" marL="0">
              <a:buNone/>
            </a:pPr>
            <a:r>
              <a:rPr lang="en-US" sz="1600" b="1" dirty="0">
                <a:solidFill>
                  <a:schemeClr val="tx2"/>
                </a:solidFill>
              </a:rPr>
              <a:t>Efficiency preserved</a:t>
            </a:r>
            <a:endParaRPr lang="en-US" sz="1600" dirty="0"/>
          </a:p>
        </p:txBody>
      </p:sp>
      <p:sp>
        <p:nvSpPr>
          <p:cNvPr id="8" name="Text 5"/>
          <p:cNvSpPr txBox="1"/>
          <p:nvPr/>
        </p:nvSpPr>
        <p:spPr>
          <a:xfrm>
            <a:off x="685800" y="1993392"/>
            <a:ext cx="3611880" cy="777240"/>
          </a:xfrm>
          <a:prstGeom prst="rect">
            <a:avLst/>
          </a:prstGeom>
          <a:noFill/>
          <a:ln/>
        </p:spPr>
        <p:txBody>
          <a:bodyPr wrap="square" lIns="0" tIns="0" rIns="0" bIns="0" rtlCol="0" anchor="t"/>
          <a:lstStyle/>
          <a:p>
            <a:pPr indent="0" marL="0">
              <a:buNone/>
            </a:pPr>
            <a:r>
              <a:rPr lang="en-US" sz="1400" dirty="0">
                <a:solidFill>
                  <a:schemeClr val="tx1"/>
                </a:solidFill>
              </a:rPr>
              <a:t>Encoder never unfrozen: about 62× fewer parameters than SAM ViT-H, 4.06M trained.</a:t>
            </a:r>
            <a:endParaRPr lang="en-US" sz="1400" dirty="0"/>
          </a:p>
        </p:txBody>
      </p:sp>
      <p:sp>
        <p:nvSpPr>
          <p:cNvPr id="9" name="finding 2"/>
          <p:cNvSpPr/>
          <p:nvPr/>
        </p:nvSpPr>
        <p:spPr>
          <a:xfrm>
            <a:off x="4663440" y="1280160"/>
            <a:ext cx="4023360" cy="1554480"/>
          </a:xfrm>
          <a:prstGeom prst="roundRect">
            <a:avLst>
              <a:gd name="adj" fmla="val 7059"/>
            </a:avLst>
          </a:prstGeom>
          <a:solidFill>
            <a:schemeClr val="bg2"/>
          </a:solidFill>
          <a:ln w="12700">
            <a:solidFill>
              <a:schemeClr val="bg2"/>
            </a:solidFill>
            <a:prstDash val="solid"/>
          </a:ln>
        </p:spPr>
      </p:sp>
      <p:sp>
        <p:nvSpPr>
          <p:cNvPr id="10" name="badge 2"/>
          <p:cNvSpPr/>
          <p:nvPr/>
        </p:nvSpPr>
        <p:spPr>
          <a:xfrm>
            <a:off x="4846320" y="146304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846320" y="14630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5394960" y="1463040"/>
            <a:ext cx="3108960" cy="384048"/>
          </a:xfrm>
          <a:prstGeom prst="rect">
            <a:avLst/>
          </a:prstGeom>
          <a:noFill/>
          <a:ln/>
        </p:spPr>
        <p:txBody>
          <a:bodyPr wrap="square" lIns="0" tIns="0" rIns="0" bIns="0" rtlCol="0" anchor="ctr"/>
          <a:lstStyle/>
          <a:p>
            <a:pPr indent="0" marL="0">
              <a:buNone/>
            </a:pPr>
            <a:r>
              <a:rPr lang="en-US" sz="1600" b="1" dirty="0">
                <a:solidFill>
                  <a:schemeClr val="tx2"/>
                </a:solidFill>
              </a:rPr>
              <a:t>Strong on X-ray and skin</a:t>
            </a:r>
            <a:endParaRPr lang="en-US" sz="1600" dirty="0"/>
          </a:p>
        </p:txBody>
      </p:sp>
      <p:sp>
        <p:nvSpPr>
          <p:cNvPr id="13" name="Text 10"/>
          <p:cNvSpPr txBox="1"/>
          <p:nvPr/>
        </p:nvSpPr>
        <p:spPr>
          <a:xfrm>
            <a:off x="4892040" y="1993392"/>
            <a:ext cx="3611880" cy="777240"/>
          </a:xfrm>
          <a:prstGeom prst="rect">
            <a:avLst/>
          </a:prstGeom>
          <a:noFill/>
          <a:ln/>
        </p:spPr>
        <p:txBody>
          <a:bodyPr wrap="square" lIns="0" tIns="0" rIns="0" bIns="0" rtlCol="0" anchor="t"/>
          <a:lstStyle/>
          <a:p>
            <a:pPr indent="0" marL="0">
              <a:buNone/>
            </a:pPr>
            <a:r>
              <a:rPr lang="en-US" sz="1400" dirty="0">
                <a:solidFill>
                  <a:schemeClr val="tx1"/>
                </a:solidFill>
              </a:rPr>
              <a:t>Dice 0.961 and 0.934 after fine-tuning; skin exceeds SkinSAM's 0.888 (different protocol).</a:t>
            </a:r>
            <a:endParaRPr lang="en-US" sz="1400" dirty="0"/>
          </a:p>
        </p:txBody>
      </p:sp>
      <p:sp>
        <p:nvSpPr>
          <p:cNvPr id="14" name="finding 3"/>
          <p:cNvSpPr/>
          <p:nvPr/>
        </p:nvSpPr>
        <p:spPr>
          <a:xfrm>
            <a:off x="457200" y="3017520"/>
            <a:ext cx="4023360" cy="1554480"/>
          </a:xfrm>
          <a:prstGeom prst="roundRect">
            <a:avLst>
              <a:gd name="adj" fmla="val 7059"/>
            </a:avLst>
          </a:prstGeom>
          <a:solidFill>
            <a:schemeClr val="bg2"/>
          </a:solidFill>
          <a:ln w="12700">
            <a:solidFill>
              <a:schemeClr val="bg2"/>
            </a:solidFill>
            <a:prstDash val="solid"/>
          </a:ln>
        </p:spPr>
      </p:sp>
      <p:sp>
        <p:nvSpPr>
          <p:cNvPr id="15" name="badge 3"/>
          <p:cNvSpPr/>
          <p:nvPr/>
        </p:nvSpPr>
        <p:spPr>
          <a:xfrm>
            <a:off x="640080" y="3200400"/>
            <a:ext cx="384048" cy="384048"/>
          </a:xfrm>
          <a:prstGeom prst="ellipse">
            <a:avLst/>
          </a:prstGeom>
          <a:solidFill>
            <a:schemeClr val="accent2"/>
          </a:solidFill>
          <a:ln w="12700">
            <a:solidFill>
              <a:schemeClr val="accent2"/>
            </a:solidFill>
            <a:prstDash val="solid"/>
          </a:ln>
        </p:spPr>
      </p:sp>
      <p:sp>
        <p:nvSpPr>
          <p:cNvPr id="16" name="Text 13"/>
          <p:cNvSpPr txBox="1"/>
          <p:nvPr/>
        </p:nvSpPr>
        <p:spPr>
          <a:xfrm>
            <a:off x="640080" y="32004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1188720" y="3200400"/>
            <a:ext cx="3108960" cy="384048"/>
          </a:xfrm>
          <a:prstGeom prst="rect">
            <a:avLst/>
          </a:prstGeom>
          <a:noFill/>
          <a:ln/>
        </p:spPr>
        <p:txBody>
          <a:bodyPr wrap="square" lIns="0" tIns="0" rIns="0" bIns="0" rtlCol="0" anchor="ctr"/>
          <a:lstStyle/>
          <a:p>
            <a:pPr indent="0" marL="0">
              <a:buNone/>
            </a:pPr>
            <a:r>
              <a:rPr lang="en-US" sz="1600" b="1" dirty="0">
                <a:solidFill>
                  <a:schemeClr val="tx2"/>
                </a:solidFill>
              </a:rPr>
              <a:t>MRI is hardest</a:t>
            </a:r>
            <a:endParaRPr lang="en-US" sz="1600" dirty="0"/>
          </a:p>
        </p:txBody>
      </p:sp>
      <p:sp>
        <p:nvSpPr>
          <p:cNvPr id="18" name="Text 15"/>
          <p:cNvSpPr txBox="1"/>
          <p:nvPr/>
        </p:nvSpPr>
        <p:spPr>
          <a:xfrm>
            <a:off x="685800" y="3730752"/>
            <a:ext cx="3611880" cy="777240"/>
          </a:xfrm>
          <a:prstGeom prst="rect">
            <a:avLst/>
          </a:prstGeom>
          <a:noFill/>
          <a:ln/>
        </p:spPr>
        <p:txBody>
          <a:bodyPr wrap="square" lIns="0" tIns="0" rIns="0" bIns="0" rtlCol="0" anchor="t"/>
          <a:lstStyle/>
          <a:p>
            <a:pPr indent="0" marL="0">
              <a:buNone/>
            </a:pPr>
            <a:r>
              <a:rPr lang="en-US" sz="1400" dirty="0">
                <a:solidFill>
                  <a:schemeClr val="tx1"/>
                </a:solidFill>
              </a:rPr>
              <a:t>Dice 0.698 → 0.811: diffuse FLAIR tumours, 89 training images, 3 epochs.</a:t>
            </a:r>
            <a:endParaRPr lang="en-US" sz="1400" dirty="0"/>
          </a:p>
        </p:txBody>
      </p:sp>
      <p:sp>
        <p:nvSpPr>
          <p:cNvPr id="19" name="finding 4"/>
          <p:cNvSpPr/>
          <p:nvPr/>
        </p:nvSpPr>
        <p:spPr>
          <a:xfrm>
            <a:off x="4663440" y="3017520"/>
            <a:ext cx="4023360" cy="1554480"/>
          </a:xfrm>
          <a:prstGeom prst="roundRect">
            <a:avLst>
              <a:gd name="adj" fmla="val 7059"/>
            </a:avLst>
          </a:prstGeom>
          <a:solidFill>
            <a:schemeClr val="bg2"/>
          </a:solidFill>
          <a:ln w="12700">
            <a:solidFill>
              <a:schemeClr val="bg2"/>
            </a:solidFill>
            <a:prstDash val="solid"/>
          </a:ln>
        </p:spPr>
      </p:sp>
      <p:sp>
        <p:nvSpPr>
          <p:cNvPr id="20" name="badge 4"/>
          <p:cNvSpPr/>
          <p:nvPr/>
        </p:nvSpPr>
        <p:spPr>
          <a:xfrm>
            <a:off x="4846320" y="3200400"/>
            <a:ext cx="384048" cy="384048"/>
          </a:xfrm>
          <a:prstGeom prst="ellipse">
            <a:avLst/>
          </a:prstGeom>
          <a:solidFill>
            <a:schemeClr val="accent1"/>
          </a:solidFill>
          <a:ln w="12700">
            <a:solidFill>
              <a:schemeClr val="accent1"/>
            </a:solidFill>
            <a:prstDash val="solid"/>
          </a:ln>
        </p:spPr>
      </p:sp>
      <p:sp>
        <p:nvSpPr>
          <p:cNvPr id="21" name="Text 18"/>
          <p:cNvSpPr txBox="1"/>
          <p:nvPr/>
        </p:nvSpPr>
        <p:spPr>
          <a:xfrm>
            <a:off x="4846320" y="32004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5394960" y="3200400"/>
            <a:ext cx="3108960" cy="384048"/>
          </a:xfrm>
          <a:prstGeom prst="rect">
            <a:avLst/>
          </a:prstGeom>
          <a:noFill/>
          <a:ln/>
        </p:spPr>
        <p:txBody>
          <a:bodyPr wrap="square" lIns="0" tIns="0" rIns="0" bIns="0" rtlCol="0" anchor="ctr"/>
          <a:lstStyle/>
          <a:p>
            <a:pPr indent="0" marL="0">
              <a:buNone/>
            </a:pPr>
            <a:r>
              <a:rPr lang="en-US" sz="1600" b="1" dirty="0">
                <a:solidFill>
                  <a:schemeClr val="tx2"/>
                </a:solidFill>
              </a:rPr>
              <a:t>Decoder-only is enough</a:t>
            </a:r>
            <a:endParaRPr lang="en-US" sz="1600" dirty="0"/>
          </a:p>
        </p:txBody>
      </p:sp>
      <p:sp>
        <p:nvSpPr>
          <p:cNvPr id="23" name="Text 20"/>
          <p:cNvSpPr txBox="1"/>
          <p:nvPr/>
        </p:nvSpPr>
        <p:spPr>
          <a:xfrm>
            <a:off x="4892040" y="3730752"/>
            <a:ext cx="3611880" cy="777240"/>
          </a:xfrm>
          <a:prstGeom prst="rect">
            <a:avLst/>
          </a:prstGeom>
          <a:noFill/>
          <a:ln/>
        </p:spPr>
        <p:txBody>
          <a:bodyPr wrap="square" lIns="0" tIns="0" rIns="0" bIns="0" rtlCol="0" anchor="t"/>
          <a:lstStyle/>
          <a:p>
            <a:pPr indent="0" marL="0">
              <a:buNone/>
            </a:pPr>
            <a:r>
              <a:rPr lang="en-US" sz="1400" dirty="0">
                <a:solidFill>
                  <a:schemeClr val="tx1"/>
                </a:solidFill>
              </a:rPr>
              <a:t>A good box prompt localises the target; adapting the decoder closes much of the gap cheaply.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Limitations and future work</a:t>
            </a:r>
            <a:endParaRPr lang="en-US" sz="3000" dirty="0"/>
          </a:p>
        </p:txBody>
      </p:sp>
      <p:sp>
        <p:nvSpPr>
          <p:cNvPr id="4" name="Limitations card"/>
          <p:cNvSpPr/>
          <p:nvPr/>
        </p:nvSpPr>
        <p:spPr>
          <a:xfrm>
            <a:off x="457200" y="1280160"/>
            <a:ext cx="4023360" cy="3337560"/>
          </a:xfrm>
          <a:prstGeom prst="roundRect">
            <a:avLst>
              <a:gd name="adj" fmla="val 3288"/>
            </a:avLst>
          </a:prstGeom>
          <a:solidFill>
            <a:schemeClr val="bg2"/>
          </a:solidFill>
          <a:ln w="12700">
            <a:solidFill>
              <a:schemeClr val="bg2"/>
            </a:solidFill>
            <a:prstDash val="solid"/>
          </a:ln>
        </p:spPr>
      </p:sp>
      <p:sp>
        <p:nvSpPr>
          <p:cNvPr id="5" name="Text 2"/>
          <p:cNvSpPr txBox="1"/>
          <p:nvPr/>
        </p:nvSpPr>
        <p:spPr>
          <a:xfrm>
            <a:off x="685800" y="1417320"/>
            <a:ext cx="3566160" cy="365760"/>
          </a:xfrm>
          <a:prstGeom prst="rect">
            <a:avLst/>
          </a:prstGeom>
          <a:noFill/>
          <a:ln/>
        </p:spPr>
        <p:txBody>
          <a:bodyPr wrap="square" lIns="0" tIns="0" rIns="0" bIns="0" rtlCol="0" anchor="t"/>
          <a:lstStyle/>
          <a:p>
            <a:pPr indent="0" marL="0">
              <a:buNone/>
            </a:pPr>
            <a:r>
              <a:rPr lang="en-US" sz="1800" b="1" dirty="0">
                <a:solidFill>
                  <a:schemeClr val="accent2"/>
                </a:solidFill>
              </a:rPr>
              <a:t>Limitations</a:t>
            </a:r>
            <a:endParaRPr lang="en-US" sz="1800" dirty="0"/>
          </a:p>
        </p:txBody>
      </p:sp>
      <p:sp>
        <p:nvSpPr>
          <p:cNvPr id="6" name="Text 3"/>
          <p:cNvSpPr txBox="1"/>
          <p:nvPr/>
        </p:nvSpPr>
        <p:spPr>
          <a:xfrm>
            <a:off x="685800" y="1920240"/>
            <a:ext cx="3611880" cy="26060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256×256 input; decoder-only; Dice loss</a:t>
            </a:r>
            <a:endParaRPr lang="en-US" sz="1500" dirty="0"/>
          </a:p>
          <a:p>
            <a:pPr marL="342900" indent="-342900">
              <a:spcAft>
                <a:spcPts val="1200"/>
              </a:spcAft>
              <a:buSzPct val="100000"/>
              <a:buChar char="•"/>
            </a:pPr>
            <a:r>
              <a:rPr lang="en-US" sz="1500" dirty="0">
                <a:solidFill>
                  <a:schemeClr val="tx1"/>
                </a:solidFill>
              </a:rPr>
              <a:t>Boxes come from ground truth (GUI uses a centre point)</a:t>
            </a:r>
            <a:endParaRPr lang="en-US" sz="1500" dirty="0"/>
          </a:p>
          <a:p>
            <a:pPr marL="342900" indent="-342900">
              <a:spcAft>
                <a:spcPts val="1200"/>
              </a:spcAft>
              <a:buSzPct val="100000"/>
              <a:buChar char="•"/>
            </a:pPr>
            <a:r>
              <a:rPr lang="en-US" sz="1500" dirty="0">
                <a:solidFill>
                  <a:schemeClr val="tx1"/>
                </a:solidFill>
              </a:rPr>
              <a:t>MRI: 16 val slices, slice-level split</a:t>
            </a:r>
            <a:endParaRPr lang="en-US" sz="1500" dirty="0"/>
          </a:p>
          <a:p>
            <a:pPr marL="342900" indent="-342900">
              <a:spcAft>
                <a:spcPts val="1200"/>
              </a:spcAft>
              <a:buSzPct val="100000"/>
              <a:buChar char="•"/>
            </a:pPr>
            <a:r>
              <a:rPr lang="en-US" sz="1500" dirty="0">
                <a:solidFill>
                  <a:schemeClr val="tx1"/>
                </a:solidFill>
              </a:rPr>
              <a:t>Single run, no separate test set</a:t>
            </a:r>
            <a:endParaRPr lang="en-US" sz="1500" dirty="0"/>
          </a:p>
          <a:p>
            <a:pPr marL="342900" indent="-342900">
              <a:spcAft>
                <a:spcPts val="1200"/>
              </a:spcAft>
              <a:buSzPct val="100000"/>
              <a:buChar char="•"/>
            </a:pPr>
            <a:r>
              <a:rPr lang="en-US" sz="1500" dirty="0">
                <a:solidFill>
                  <a:schemeClr val="tx1"/>
                </a:solidFill>
              </a:rPr>
              <a:t>Literature comparison not like-for-like</a:t>
            </a:r>
            <a:endParaRPr lang="en-US" sz="1500" dirty="0"/>
          </a:p>
        </p:txBody>
      </p:sp>
      <p:sp>
        <p:nvSpPr>
          <p:cNvPr id="7" name="Future work card"/>
          <p:cNvSpPr/>
          <p:nvPr/>
        </p:nvSpPr>
        <p:spPr>
          <a:xfrm>
            <a:off x="4663440" y="1280160"/>
            <a:ext cx="4023360" cy="3337560"/>
          </a:xfrm>
          <a:prstGeom prst="roundRect">
            <a:avLst>
              <a:gd name="adj" fmla="val 3288"/>
            </a:avLst>
          </a:prstGeom>
          <a:solidFill>
            <a:schemeClr val="bg2"/>
          </a:solidFill>
          <a:ln w="12700">
            <a:solidFill>
              <a:schemeClr val="bg2"/>
            </a:solidFill>
            <a:prstDash val="solid"/>
          </a:ln>
        </p:spPr>
      </p:sp>
      <p:sp>
        <p:nvSpPr>
          <p:cNvPr id="8" name="Text 5"/>
          <p:cNvSpPr txBox="1"/>
          <p:nvPr/>
        </p:nvSpPr>
        <p:spPr>
          <a:xfrm>
            <a:off x="4892040" y="141732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Future work</a:t>
            </a:r>
            <a:endParaRPr lang="en-US" sz="1800" dirty="0"/>
          </a:p>
        </p:txBody>
      </p:sp>
      <p:sp>
        <p:nvSpPr>
          <p:cNvPr id="9" name="Text 6"/>
          <p:cNvSpPr txBox="1"/>
          <p:nvPr/>
        </p:nvSpPr>
        <p:spPr>
          <a:xfrm>
            <a:off x="4892040" y="1920240"/>
            <a:ext cx="3611880" cy="26060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1024×1024, test set, patient-level splits, seeds</a:t>
            </a:r>
            <a:endParaRPr lang="en-US" sz="1500" dirty="0"/>
          </a:p>
          <a:p>
            <a:pPr marL="342900" indent="-342900">
              <a:spcAft>
                <a:spcPts val="1200"/>
              </a:spcAft>
              <a:buSzPct val="100000"/>
              <a:buChar char="•"/>
            </a:pPr>
            <a:r>
              <a:rPr lang="en-US" sz="1500" dirty="0">
                <a:solidFill>
                  <a:schemeClr val="tx1"/>
                </a:solidFill>
              </a:rPr>
              <a:t>Adapters / LoRA, partial encoder unfreezing</a:t>
            </a:r>
            <a:endParaRPr lang="en-US" sz="1500" dirty="0"/>
          </a:p>
          <a:p>
            <a:pPr marL="342900" indent="-342900">
              <a:spcAft>
                <a:spcPts val="1200"/>
              </a:spcAft>
              <a:buSzPct val="100000"/>
              <a:buChar char="•"/>
            </a:pPr>
            <a:r>
              <a:rPr lang="en-US" sz="1500" dirty="0">
                <a:solidFill>
                  <a:schemeClr val="tx1"/>
                </a:solidFill>
              </a:rPr>
              <a:t>Automatic box detector</a:t>
            </a:r>
            <a:endParaRPr lang="en-US" sz="1500" dirty="0"/>
          </a:p>
          <a:p>
            <a:pPr marL="342900" indent="-342900">
              <a:spcAft>
                <a:spcPts val="1200"/>
              </a:spcAft>
              <a:buSzPct val="100000"/>
              <a:buChar char="•"/>
            </a:pPr>
            <a:r>
              <a:rPr lang="en-US" sz="1500" dirty="0">
                <a:solidFill>
                  <a:schemeClr val="tx1"/>
                </a:solidFill>
              </a:rPr>
              <a:t>Full BraTS, multi-sequence, sub-regions</a:t>
            </a:r>
            <a:endParaRPr lang="en-US" sz="1500" dirty="0"/>
          </a:p>
          <a:p>
            <a:pPr marL="342900" indent="-342900">
              <a:spcAft>
                <a:spcPts val="1200"/>
              </a:spcAft>
              <a:buSzPct val="100000"/>
              <a:buChar char="•"/>
            </a:pPr>
            <a:r>
              <a:rPr lang="en-US" sz="1500" dirty="0">
                <a:solidFill>
                  <a:schemeClr val="tx1"/>
                </a:solidFill>
              </a:rPr>
              <a:t>Edge deployment: ONNX, quantisation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Conclusion</a:t>
            </a:r>
            <a:endParaRPr lang="en-US" sz="3000" dirty="0"/>
          </a:p>
        </p:txBody>
      </p:sp>
      <p:sp>
        <p:nvSpPr>
          <p:cNvPr id="4" name="result tile 1"/>
          <p:cNvSpPr/>
          <p:nvPr/>
        </p:nvSpPr>
        <p:spPr>
          <a:xfrm>
            <a:off x="457200" y="1234440"/>
            <a:ext cx="2560320" cy="1600200"/>
          </a:xfrm>
          <a:prstGeom prst="roundRect">
            <a:avLst>
              <a:gd name="adj" fmla="val 6857"/>
            </a:avLst>
          </a:prstGeom>
          <a:solidFill>
            <a:srgbClr val="153F57"/>
          </a:solidFill>
          <a:ln w="12700">
            <a:solidFill>
              <a:srgbClr val="153F57"/>
            </a:solidFill>
            <a:prstDash val="solid"/>
          </a:ln>
        </p:spPr>
      </p:sp>
      <p:sp>
        <p:nvSpPr>
          <p:cNvPr id="5" name="Text 2"/>
          <p:cNvSpPr txBox="1"/>
          <p:nvPr/>
        </p:nvSpPr>
        <p:spPr>
          <a:xfrm>
            <a:off x="457200" y="1280160"/>
            <a:ext cx="2560320" cy="822960"/>
          </a:xfrm>
          <a:prstGeom prst="rect">
            <a:avLst/>
          </a:prstGeom>
          <a:noFill/>
          <a:ln/>
        </p:spPr>
        <p:txBody>
          <a:bodyPr wrap="square" lIns="0" tIns="0" rIns="0" bIns="0" rtlCol="0" anchor="ctr"/>
          <a:lstStyle/>
          <a:p>
            <a:pPr algn="ctr" indent="0" marL="0">
              <a:buNone/>
            </a:pPr>
            <a:r>
              <a:rPr lang="en-US" sz="4400" b="1" dirty="0">
                <a:solidFill>
                  <a:schemeClr val="accent3"/>
                </a:solidFill>
              </a:rPr>
              <a:t>+6.9</a:t>
            </a:r>
            <a:endParaRPr lang="en-US" sz="4400" dirty="0"/>
          </a:p>
        </p:txBody>
      </p:sp>
      <p:sp>
        <p:nvSpPr>
          <p:cNvPr id="6" name="Text 3"/>
          <p:cNvSpPr txBox="1"/>
          <p:nvPr/>
        </p:nvSpPr>
        <p:spPr>
          <a:xfrm>
            <a:off x="457200" y="2103120"/>
            <a:ext cx="2560320" cy="640080"/>
          </a:xfrm>
          <a:prstGeom prst="rect">
            <a:avLst/>
          </a:prstGeom>
          <a:noFill/>
          <a:ln/>
        </p:spPr>
        <p:txBody>
          <a:bodyPr wrap="square" lIns="0" tIns="0" rIns="0" bIns="0" rtlCol="0" anchor="t"/>
          <a:lstStyle/>
          <a:p>
            <a:pPr algn="ctr" indent="0" marL="0">
              <a:buNone/>
            </a:pPr>
            <a:r>
              <a:rPr lang="en-US" sz="1400" b="1" dirty="0">
                <a:solidFill>
                  <a:schemeClr val="bg1"/>
                </a:solidFill>
              </a:rPr>
              <a:t>Skin lesion</a:t>
            </a:r>
            <a:endParaRPr lang="en-US" sz="1400" dirty="0"/>
          </a:p>
          <a:p>
            <a:pPr algn="ctr" indent="0" marL="0">
              <a:buNone/>
            </a:pPr>
            <a:r>
              <a:rPr lang="en-US" sz="1400" dirty="0">
                <a:solidFill>
                  <a:schemeClr val="bg1"/>
                </a:solidFill>
              </a:rPr>
              <a:t>Dice 0.9344</a:t>
            </a:r>
            <a:endParaRPr lang="en-US" sz="1400" dirty="0"/>
          </a:p>
        </p:txBody>
      </p:sp>
      <p:sp>
        <p:nvSpPr>
          <p:cNvPr id="7" name="result tile 2"/>
          <p:cNvSpPr/>
          <p:nvPr/>
        </p:nvSpPr>
        <p:spPr>
          <a:xfrm>
            <a:off x="3291840" y="1234440"/>
            <a:ext cx="2560320" cy="1600200"/>
          </a:xfrm>
          <a:prstGeom prst="roundRect">
            <a:avLst>
              <a:gd name="adj" fmla="val 6857"/>
            </a:avLst>
          </a:prstGeom>
          <a:solidFill>
            <a:srgbClr val="153F57"/>
          </a:solidFill>
          <a:ln w="12700">
            <a:solidFill>
              <a:srgbClr val="153F57"/>
            </a:solidFill>
            <a:prstDash val="solid"/>
          </a:ln>
        </p:spPr>
      </p:sp>
      <p:sp>
        <p:nvSpPr>
          <p:cNvPr id="8" name="Text 5"/>
          <p:cNvSpPr txBox="1"/>
          <p:nvPr/>
        </p:nvSpPr>
        <p:spPr>
          <a:xfrm>
            <a:off x="3291840" y="1280160"/>
            <a:ext cx="2560320" cy="822960"/>
          </a:xfrm>
          <a:prstGeom prst="rect">
            <a:avLst/>
          </a:prstGeom>
          <a:noFill/>
          <a:ln/>
        </p:spPr>
        <p:txBody>
          <a:bodyPr wrap="square" lIns="0" tIns="0" rIns="0" bIns="0" rtlCol="0" anchor="ctr"/>
          <a:lstStyle/>
          <a:p>
            <a:pPr algn="ctr" indent="0" marL="0">
              <a:buNone/>
            </a:pPr>
            <a:r>
              <a:rPr lang="en-US" sz="4400" b="1" dirty="0">
                <a:solidFill>
                  <a:schemeClr val="accent3"/>
                </a:solidFill>
              </a:rPr>
              <a:t>+8.7</a:t>
            </a:r>
            <a:endParaRPr lang="en-US" sz="4400" dirty="0"/>
          </a:p>
        </p:txBody>
      </p:sp>
      <p:sp>
        <p:nvSpPr>
          <p:cNvPr id="9" name="Text 6"/>
          <p:cNvSpPr txBox="1"/>
          <p:nvPr/>
        </p:nvSpPr>
        <p:spPr>
          <a:xfrm>
            <a:off x="3291840" y="2103120"/>
            <a:ext cx="2560320" cy="640080"/>
          </a:xfrm>
          <a:prstGeom prst="rect">
            <a:avLst/>
          </a:prstGeom>
          <a:noFill/>
          <a:ln/>
        </p:spPr>
        <p:txBody>
          <a:bodyPr wrap="square" lIns="0" tIns="0" rIns="0" bIns="0" rtlCol="0" anchor="t"/>
          <a:lstStyle/>
          <a:p>
            <a:pPr algn="ctr" indent="0" marL="0">
              <a:buNone/>
            </a:pPr>
            <a:r>
              <a:rPr lang="en-US" sz="1400" b="1" dirty="0">
                <a:solidFill>
                  <a:schemeClr val="bg1"/>
                </a:solidFill>
              </a:rPr>
              <a:t>Chest X-ray</a:t>
            </a:r>
            <a:endParaRPr lang="en-US" sz="1400" dirty="0"/>
          </a:p>
          <a:p>
            <a:pPr algn="ctr" indent="0" marL="0">
              <a:buNone/>
            </a:pPr>
            <a:r>
              <a:rPr lang="en-US" sz="1400" dirty="0">
                <a:solidFill>
                  <a:schemeClr val="bg1"/>
                </a:solidFill>
              </a:rPr>
              <a:t>Dice 0.9607</a:t>
            </a:r>
            <a:endParaRPr lang="en-US" sz="1400" dirty="0"/>
          </a:p>
        </p:txBody>
      </p:sp>
      <p:sp>
        <p:nvSpPr>
          <p:cNvPr id="10" name="result tile 3"/>
          <p:cNvSpPr/>
          <p:nvPr/>
        </p:nvSpPr>
        <p:spPr>
          <a:xfrm>
            <a:off x="6126480" y="1234440"/>
            <a:ext cx="2560320" cy="1600200"/>
          </a:xfrm>
          <a:prstGeom prst="roundRect">
            <a:avLst>
              <a:gd name="adj" fmla="val 6857"/>
            </a:avLst>
          </a:prstGeom>
          <a:solidFill>
            <a:srgbClr val="153F57"/>
          </a:solidFill>
          <a:ln w="12700">
            <a:solidFill>
              <a:srgbClr val="153F57"/>
            </a:solidFill>
            <a:prstDash val="solid"/>
          </a:ln>
        </p:spPr>
      </p:sp>
      <p:sp>
        <p:nvSpPr>
          <p:cNvPr id="11" name="Text 8"/>
          <p:cNvSpPr txBox="1"/>
          <p:nvPr/>
        </p:nvSpPr>
        <p:spPr>
          <a:xfrm>
            <a:off x="6126480" y="1280160"/>
            <a:ext cx="2560320" cy="822960"/>
          </a:xfrm>
          <a:prstGeom prst="rect">
            <a:avLst/>
          </a:prstGeom>
          <a:noFill/>
          <a:ln/>
        </p:spPr>
        <p:txBody>
          <a:bodyPr wrap="square" lIns="0" tIns="0" rIns="0" bIns="0" rtlCol="0" anchor="ctr"/>
          <a:lstStyle/>
          <a:p>
            <a:pPr algn="ctr" indent="0" marL="0">
              <a:buNone/>
            </a:pPr>
            <a:r>
              <a:rPr lang="en-US" sz="4400" b="1" dirty="0">
                <a:solidFill>
                  <a:schemeClr val="accent3"/>
                </a:solidFill>
              </a:rPr>
              <a:t>+11.3</a:t>
            </a:r>
            <a:endParaRPr lang="en-US" sz="4400" dirty="0"/>
          </a:p>
        </p:txBody>
      </p:sp>
      <p:sp>
        <p:nvSpPr>
          <p:cNvPr id="12" name="Text 9"/>
          <p:cNvSpPr txBox="1"/>
          <p:nvPr/>
        </p:nvSpPr>
        <p:spPr>
          <a:xfrm>
            <a:off x="6126480" y="2103120"/>
            <a:ext cx="2560320" cy="640080"/>
          </a:xfrm>
          <a:prstGeom prst="rect">
            <a:avLst/>
          </a:prstGeom>
          <a:noFill/>
          <a:ln/>
        </p:spPr>
        <p:txBody>
          <a:bodyPr wrap="square" lIns="0" tIns="0" rIns="0" bIns="0" rtlCol="0" anchor="t"/>
          <a:lstStyle/>
          <a:p>
            <a:pPr algn="ctr" indent="0" marL="0">
              <a:buNone/>
            </a:pPr>
            <a:r>
              <a:rPr lang="en-US" sz="1400" b="1" dirty="0">
                <a:solidFill>
                  <a:schemeClr val="bg1"/>
                </a:solidFill>
              </a:rPr>
              <a:t>MRI</a:t>
            </a:r>
            <a:endParaRPr lang="en-US" sz="1400" dirty="0"/>
          </a:p>
          <a:p>
            <a:pPr algn="ctr" indent="0" marL="0">
              <a:buNone/>
            </a:pPr>
            <a:r>
              <a:rPr lang="en-US" sz="1400" dirty="0">
                <a:solidFill>
                  <a:schemeClr val="bg1"/>
                </a:solidFill>
              </a:rPr>
              <a:t>Dice 0.8107</a:t>
            </a:r>
            <a:endParaRPr lang="en-US" sz="1400" dirty="0"/>
          </a:p>
        </p:txBody>
      </p:sp>
      <p:sp>
        <p:nvSpPr>
          <p:cNvPr id="13" name="Text 10"/>
          <p:cNvSpPr txBox="1"/>
          <p:nvPr/>
        </p:nvSpPr>
        <p:spPr>
          <a:xfrm>
            <a:off x="457200" y="3063240"/>
            <a:ext cx="8229600" cy="640080"/>
          </a:xfrm>
          <a:prstGeom prst="rect">
            <a:avLst/>
          </a:prstGeom>
          <a:noFill/>
          <a:ln/>
        </p:spPr>
        <p:txBody>
          <a:bodyPr wrap="square" lIns="0" tIns="0" rIns="0" bIns="0" rtlCol="0" anchor="t"/>
          <a:lstStyle/>
          <a:p>
            <a:pPr indent="0" marL="0">
              <a:buNone/>
            </a:pPr>
            <a:r>
              <a:rPr lang="en-US" sz="1800" dirty="0">
                <a:solidFill>
                  <a:schemeClr val="bg1"/>
                </a:solidFill>
              </a:rPr>
              <a:t>Dice points gained from decoder-only fine-tuning with a 10.2M-parameter SAM, about 62× smaller than SAM ViT-H.</a:t>
            </a:r>
            <a:endParaRPr lang="en-US" sz="1800" dirty="0"/>
          </a:p>
        </p:txBody>
      </p:sp>
      <p:sp>
        <p:nvSpPr>
          <p:cNvPr id="14" name="Text 11"/>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400" dirty="0">
                <a:solidFill>
                  <a:srgbClr val="B7C7D1"/>
                </a:solidFill>
              </a:rPr>
              <a:t>Delivered: 3 fine-tuned checkpoints · results JSON and CSV · comparison plots · Gradio GUI · final report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7D1"/>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EfficientSAM Medical">
  <a:themeElements>
    <a:clrScheme name="EfficientSAM Medical">
      <a:dk1>
        <a:srgbClr val="1B2A33"/>
      </a:dk1>
      <a:lt1>
        <a:srgbClr val="FFFFFF"/>
      </a:lt1>
      <a:dk2>
        <a:srgbClr val="0B2A3C"/>
      </a:dk2>
      <a:lt2>
        <a:srgbClr val="EAF2F4"/>
      </a:lt2>
      <a:accent1>
        <a:srgbClr val="0E7C86"/>
      </a:accent1>
      <a:accent2>
        <a:srgbClr val="D1481F"/>
      </a:accent2>
      <a:accent3>
        <a:srgbClr val="F2B134"/>
      </a:accent3>
      <a:accent4>
        <a:srgbClr val="3A6EA5"/>
      </a:accent4>
      <a:accent5>
        <a:srgbClr val="5B6B75"/>
      </a:accent5>
      <a:accent6>
        <a:srgbClr val="7BB6A5"/>
      </a:accent6>
      <a:hlink>
        <a:srgbClr val="0E7C86"/>
      </a:hlink>
      <a:folHlink>
        <a:srgbClr val="5B6B75"/>
      </a:folHlink>
    </a:clrScheme>
    <a:fontScheme name="EfficientSAM Med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EfficientSAM for Medical Image Segmentation — Final Presentation</dc:title>
  <dc:subject>PptxGenJS Presentation</dc:subject>
  <dc:creator>Team 27</dc:creator>
  <cp:lastModifiedBy>Team 27</cp:lastModifiedBy>
  <cp:revision>1</cp:revision>
  <dcterms:created xsi:type="dcterms:W3CDTF">2026-10-15T06:55:28Z</dcterms:created>
  <dcterms:modified xsi:type="dcterms:W3CDTF">2026-10-15T06:55:28Z</dcterms:modified>
</cp:coreProperties>
</file>